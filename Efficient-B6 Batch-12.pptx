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59" r:id="rId6"/>
    <p:sldId id="285" r:id="rId7"/>
    <p:sldId id="262" r:id="rId8"/>
    <p:sldId id="263" r:id="rId9"/>
    <p:sldId id="265" r:id="rId10"/>
    <p:sldId id="282" r:id="rId11"/>
    <p:sldId id="286" r:id="rId12"/>
    <p:sldId id="281" r:id="rId13"/>
    <p:sldId id="269" r:id="rId14"/>
    <p:sldId id="266" r:id="rId15"/>
    <p:sldId id="283" r:id="rId16"/>
    <p:sldId id="273" r:id="rId17"/>
    <p:sldId id="284" r:id="rId18"/>
    <p:sldId id="277" r:id="rId19"/>
    <p:sldId id="268"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4660"/>
  </p:normalViewPr>
  <p:slideViewPr>
    <p:cSldViewPr snapToGrid="0">
      <p:cViewPr varScale="1">
        <p:scale>
          <a:sx n="89" d="100"/>
          <a:sy n="89" d="100"/>
        </p:scale>
        <p:origin x="30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5C5B0-60D4-59C9-8E5A-4D450C9BB6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350064C-DAD2-9B8C-0703-F3683302AC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B20870-1F98-B54D-48E6-325288C6250C}"/>
              </a:ext>
            </a:extLst>
          </p:cNvPr>
          <p:cNvSpPr>
            <a:spLocks noGrp="1"/>
          </p:cNvSpPr>
          <p:nvPr>
            <p:ph type="dt" sz="half" idx="10"/>
          </p:nvPr>
        </p:nvSpPr>
        <p:spPr/>
        <p:txBody>
          <a:bodyPr/>
          <a:lstStyle/>
          <a:p>
            <a:fld id="{E9E4EFFB-01D8-4DAF-B750-E7398D0DE87F}" type="datetimeFigureOut">
              <a:rPr lang="en-IN" smtClean="0"/>
              <a:t>07-02-2026</a:t>
            </a:fld>
            <a:endParaRPr lang="en-IN"/>
          </a:p>
        </p:txBody>
      </p:sp>
      <p:sp>
        <p:nvSpPr>
          <p:cNvPr id="5" name="Footer Placeholder 4">
            <a:extLst>
              <a:ext uri="{FF2B5EF4-FFF2-40B4-BE49-F238E27FC236}">
                <a16:creationId xmlns:a16="http://schemas.microsoft.com/office/drawing/2014/main" id="{85850934-E386-C1AD-31FE-50954157DA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52858A-24A6-D8C3-D885-AE837F4841B7}"/>
              </a:ext>
            </a:extLst>
          </p:cNvPr>
          <p:cNvSpPr>
            <a:spLocks noGrp="1"/>
          </p:cNvSpPr>
          <p:nvPr>
            <p:ph type="sldNum" sz="quarter" idx="12"/>
          </p:nvPr>
        </p:nvSpPr>
        <p:spPr/>
        <p:txBody>
          <a:bodyPr/>
          <a:lstStyle/>
          <a:p>
            <a:fld id="{9AEBD660-1416-497C-ACDB-10BE7E608AE5}" type="slidenum">
              <a:rPr lang="en-IN" smtClean="0"/>
              <a:t>‹#›</a:t>
            </a:fld>
            <a:endParaRPr lang="en-IN"/>
          </a:p>
        </p:txBody>
      </p:sp>
    </p:spTree>
    <p:extLst>
      <p:ext uri="{BB962C8B-B14F-4D97-AF65-F5344CB8AC3E}">
        <p14:creationId xmlns:p14="http://schemas.microsoft.com/office/powerpoint/2010/main" val="1868357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64550-9D6C-3377-FE3A-0FFF47A64A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87CC10-BFD6-01BE-1630-A725479CF0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CCB7EE-E087-5AF5-34F0-DF8DDBA16711}"/>
              </a:ext>
            </a:extLst>
          </p:cNvPr>
          <p:cNvSpPr>
            <a:spLocks noGrp="1"/>
          </p:cNvSpPr>
          <p:nvPr>
            <p:ph type="dt" sz="half" idx="10"/>
          </p:nvPr>
        </p:nvSpPr>
        <p:spPr/>
        <p:txBody>
          <a:bodyPr/>
          <a:lstStyle/>
          <a:p>
            <a:fld id="{E9E4EFFB-01D8-4DAF-B750-E7398D0DE87F}" type="datetimeFigureOut">
              <a:rPr lang="en-IN" smtClean="0"/>
              <a:t>07-02-2026</a:t>
            </a:fld>
            <a:endParaRPr lang="en-IN"/>
          </a:p>
        </p:txBody>
      </p:sp>
      <p:sp>
        <p:nvSpPr>
          <p:cNvPr id="5" name="Footer Placeholder 4">
            <a:extLst>
              <a:ext uri="{FF2B5EF4-FFF2-40B4-BE49-F238E27FC236}">
                <a16:creationId xmlns:a16="http://schemas.microsoft.com/office/drawing/2014/main" id="{2697DF0A-0122-2F63-A3FD-4B0023C233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6A24E6-81C2-9546-0245-6851376CAE69}"/>
              </a:ext>
            </a:extLst>
          </p:cNvPr>
          <p:cNvSpPr>
            <a:spLocks noGrp="1"/>
          </p:cNvSpPr>
          <p:nvPr>
            <p:ph type="sldNum" sz="quarter" idx="12"/>
          </p:nvPr>
        </p:nvSpPr>
        <p:spPr/>
        <p:txBody>
          <a:bodyPr/>
          <a:lstStyle/>
          <a:p>
            <a:fld id="{9AEBD660-1416-497C-ACDB-10BE7E608AE5}" type="slidenum">
              <a:rPr lang="en-IN" smtClean="0"/>
              <a:t>‹#›</a:t>
            </a:fld>
            <a:endParaRPr lang="en-IN"/>
          </a:p>
        </p:txBody>
      </p:sp>
    </p:spTree>
    <p:extLst>
      <p:ext uri="{BB962C8B-B14F-4D97-AF65-F5344CB8AC3E}">
        <p14:creationId xmlns:p14="http://schemas.microsoft.com/office/powerpoint/2010/main" val="263165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4BC3F-10B1-9968-6E5E-91CE52C003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439B90B-D0D9-23EA-C568-6A50947BE3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F2FF17-5749-934A-08F1-251772DDA39C}"/>
              </a:ext>
            </a:extLst>
          </p:cNvPr>
          <p:cNvSpPr>
            <a:spLocks noGrp="1"/>
          </p:cNvSpPr>
          <p:nvPr>
            <p:ph type="dt" sz="half" idx="10"/>
          </p:nvPr>
        </p:nvSpPr>
        <p:spPr/>
        <p:txBody>
          <a:bodyPr/>
          <a:lstStyle/>
          <a:p>
            <a:fld id="{E9E4EFFB-01D8-4DAF-B750-E7398D0DE87F}" type="datetimeFigureOut">
              <a:rPr lang="en-IN" smtClean="0"/>
              <a:t>07-02-2026</a:t>
            </a:fld>
            <a:endParaRPr lang="en-IN"/>
          </a:p>
        </p:txBody>
      </p:sp>
      <p:sp>
        <p:nvSpPr>
          <p:cNvPr id="5" name="Footer Placeholder 4">
            <a:extLst>
              <a:ext uri="{FF2B5EF4-FFF2-40B4-BE49-F238E27FC236}">
                <a16:creationId xmlns:a16="http://schemas.microsoft.com/office/drawing/2014/main" id="{40DAB688-1CF5-831D-5F8D-6226137D82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3D2444-588E-C7F4-4454-CC20D6886EC9}"/>
              </a:ext>
            </a:extLst>
          </p:cNvPr>
          <p:cNvSpPr>
            <a:spLocks noGrp="1"/>
          </p:cNvSpPr>
          <p:nvPr>
            <p:ph type="sldNum" sz="quarter" idx="12"/>
          </p:nvPr>
        </p:nvSpPr>
        <p:spPr/>
        <p:txBody>
          <a:bodyPr/>
          <a:lstStyle/>
          <a:p>
            <a:fld id="{9AEBD660-1416-497C-ACDB-10BE7E608AE5}" type="slidenum">
              <a:rPr lang="en-IN" smtClean="0"/>
              <a:t>‹#›</a:t>
            </a:fld>
            <a:endParaRPr lang="en-IN"/>
          </a:p>
        </p:txBody>
      </p:sp>
    </p:spTree>
    <p:extLst>
      <p:ext uri="{BB962C8B-B14F-4D97-AF65-F5344CB8AC3E}">
        <p14:creationId xmlns:p14="http://schemas.microsoft.com/office/powerpoint/2010/main" val="3921080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C116C-D60F-AEBF-AE9C-7BDD7A6A8E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93E36F-4C4E-644F-5BDB-227DB9263D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B476AD2-2815-CB2F-DA3E-77A1ACEC8B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6FF7F7F-6398-F7A6-4D33-DFCC915DB0EE}"/>
              </a:ext>
            </a:extLst>
          </p:cNvPr>
          <p:cNvSpPr>
            <a:spLocks noGrp="1"/>
          </p:cNvSpPr>
          <p:nvPr>
            <p:ph type="dt" sz="half" idx="10"/>
          </p:nvPr>
        </p:nvSpPr>
        <p:spPr/>
        <p:txBody>
          <a:bodyPr/>
          <a:lstStyle/>
          <a:p>
            <a:fld id="{E9E4EFFB-01D8-4DAF-B750-E7398D0DE87F}" type="datetimeFigureOut">
              <a:rPr lang="en-IN" smtClean="0"/>
              <a:t>07-02-2026</a:t>
            </a:fld>
            <a:endParaRPr lang="en-IN"/>
          </a:p>
        </p:txBody>
      </p:sp>
      <p:sp>
        <p:nvSpPr>
          <p:cNvPr id="6" name="Footer Placeholder 5">
            <a:extLst>
              <a:ext uri="{FF2B5EF4-FFF2-40B4-BE49-F238E27FC236}">
                <a16:creationId xmlns:a16="http://schemas.microsoft.com/office/drawing/2014/main" id="{AC89A6FC-6F90-79B2-F79E-9C2289F47C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21D0DD-041E-304F-90C7-9E5FCAA61623}"/>
              </a:ext>
            </a:extLst>
          </p:cNvPr>
          <p:cNvSpPr>
            <a:spLocks noGrp="1"/>
          </p:cNvSpPr>
          <p:nvPr>
            <p:ph type="sldNum" sz="quarter" idx="12"/>
          </p:nvPr>
        </p:nvSpPr>
        <p:spPr/>
        <p:txBody>
          <a:bodyPr/>
          <a:lstStyle/>
          <a:p>
            <a:fld id="{9AEBD660-1416-497C-ACDB-10BE7E608AE5}" type="slidenum">
              <a:rPr lang="en-IN" smtClean="0"/>
              <a:t>‹#›</a:t>
            </a:fld>
            <a:endParaRPr lang="en-IN"/>
          </a:p>
        </p:txBody>
      </p:sp>
    </p:spTree>
    <p:extLst>
      <p:ext uri="{BB962C8B-B14F-4D97-AF65-F5344CB8AC3E}">
        <p14:creationId xmlns:p14="http://schemas.microsoft.com/office/powerpoint/2010/main" val="236017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49278-11AB-7172-9B0D-99DF8A66725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5F922A-6EA8-1877-D60E-ED94D3CF2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C3A7CB-D164-AECC-3F0C-56400788A5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148060-19F4-6168-4731-37493B5C8E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8C7C6-7374-D5AE-D205-7EBFFBD1DB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8084EB-10F4-CBC2-304D-F518E1F678C8}"/>
              </a:ext>
            </a:extLst>
          </p:cNvPr>
          <p:cNvSpPr>
            <a:spLocks noGrp="1"/>
          </p:cNvSpPr>
          <p:nvPr>
            <p:ph type="dt" sz="half" idx="10"/>
          </p:nvPr>
        </p:nvSpPr>
        <p:spPr/>
        <p:txBody>
          <a:bodyPr/>
          <a:lstStyle/>
          <a:p>
            <a:fld id="{E9E4EFFB-01D8-4DAF-B750-E7398D0DE87F}" type="datetimeFigureOut">
              <a:rPr lang="en-IN" smtClean="0"/>
              <a:t>07-02-2026</a:t>
            </a:fld>
            <a:endParaRPr lang="en-IN"/>
          </a:p>
        </p:txBody>
      </p:sp>
      <p:sp>
        <p:nvSpPr>
          <p:cNvPr id="8" name="Footer Placeholder 7">
            <a:extLst>
              <a:ext uri="{FF2B5EF4-FFF2-40B4-BE49-F238E27FC236}">
                <a16:creationId xmlns:a16="http://schemas.microsoft.com/office/drawing/2014/main" id="{86DB1010-B709-1DB0-6A9C-B5BAC45F4DB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C4C5C31-965C-CD71-8F81-A86131A6FBDC}"/>
              </a:ext>
            </a:extLst>
          </p:cNvPr>
          <p:cNvSpPr>
            <a:spLocks noGrp="1"/>
          </p:cNvSpPr>
          <p:nvPr>
            <p:ph type="sldNum" sz="quarter" idx="12"/>
          </p:nvPr>
        </p:nvSpPr>
        <p:spPr/>
        <p:txBody>
          <a:bodyPr/>
          <a:lstStyle/>
          <a:p>
            <a:fld id="{9AEBD660-1416-497C-ACDB-10BE7E608AE5}" type="slidenum">
              <a:rPr lang="en-IN" smtClean="0"/>
              <a:t>‹#›</a:t>
            </a:fld>
            <a:endParaRPr lang="en-IN"/>
          </a:p>
        </p:txBody>
      </p:sp>
    </p:spTree>
    <p:extLst>
      <p:ext uri="{BB962C8B-B14F-4D97-AF65-F5344CB8AC3E}">
        <p14:creationId xmlns:p14="http://schemas.microsoft.com/office/powerpoint/2010/main" val="3273084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A7E3C-C6FB-0823-CF1C-5549B963C48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8962C87-83BF-D57D-A001-B3D3EE35F7D8}"/>
              </a:ext>
            </a:extLst>
          </p:cNvPr>
          <p:cNvSpPr>
            <a:spLocks noGrp="1"/>
          </p:cNvSpPr>
          <p:nvPr>
            <p:ph type="dt" sz="half" idx="10"/>
          </p:nvPr>
        </p:nvSpPr>
        <p:spPr/>
        <p:txBody>
          <a:bodyPr/>
          <a:lstStyle/>
          <a:p>
            <a:fld id="{E9E4EFFB-01D8-4DAF-B750-E7398D0DE87F}" type="datetimeFigureOut">
              <a:rPr lang="en-IN" smtClean="0"/>
              <a:t>07-02-2026</a:t>
            </a:fld>
            <a:endParaRPr lang="en-IN"/>
          </a:p>
        </p:txBody>
      </p:sp>
      <p:sp>
        <p:nvSpPr>
          <p:cNvPr id="4" name="Footer Placeholder 3">
            <a:extLst>
              <a:ext uri="{FF2B5EF4-FFF2-40B4-BE49-F238E27FC236}">
                <a16:creationId xmlns:a16="http://schemas.microsoft.com/office/drawing/2014/main" id="{A382982A-D40E-7AE2-6AC7-AB07FBA7F1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EDE8892-22D4-2053-7470-DD29C6904102}"/>
              </a:ext>
            </a:extLst>
          </p:cNvPr>
          <p:cNvSpPr>
            <a:spLocks noGrp="1"/>
          </p:cNvSpPr>
          <p:nvPr>
            <p:ph type="sldNum" sz="quarter" idx="12"/>
          </p:nvPr>
        </p:nvSpPr>
        <p:spPr/>
        <p:txBody>
          <a:bodyPr/>
          <a:lstStyle/>
          <a:p>
            <a:fld id="{9AEBD660-1416-497C-ACDB-10BE7E608AE5}" type="slidenum">
              <a:rPr lang="en-IN" smtClean="0"/>
              <a:t>‹#›</a:t>
            </a:fld>
            <a:endParaRPr lang="en-IN"/>
          </a:p>
        </p:txBody>
      </p:sp>
    </p:spTree>
    <p:extLst>
      <p:ext uri="{BB962C8B-B14F-4D97-AF65-F5344CB8AC3E}">
        <p14:creationId xmlns:p14="http://schemas.microsoft.com/office/powerpoint/2010/main" val="3125254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529DB3-D771-B4B7-7E85-D59E8AE9ADEB}"/>
              </a:ext>
            </a:extLst>
          </p:cNvPr>
          <p:cNvSpPr>
            <a:spLocks noGrp="1"/>
          </p:cNvSpPr>
          <p:nvPr>
            <p:ph type="dt" sz="half" idx="10"/>
          </p:nvPr>
        </p:nvSpPr>
        <p:spPr/>
        <p:txBody>
          <a:bodyPr/>
          <a:lstStyle/>
          <a:p>
            <a:fld id="{E9E4EFFB-01D8-4DAF-B750-E7398D0DE87F}" type="datetimeFigureOut">
              <a:rPr lang="en-IN" smtClean="0"/>
              <a:t>07-02-2026</a:t>
            </a:fld>
            <a:endParaRPr lang="en-IN"/>
          </a:p>
        </p:txBody>
      </p:sp>
      <p:sp>
        <p:nvSpPr>
          <p:cNvPr id="3" name="Footer Placeholder 2">
            <a:extLst>
              <a:ext uri="{FF2B5EF4-FFF2-40B4-BE49-F238E27FC236}">
                <a16:creationId xmlns:a16="http://schemas.microsoft.com/office/drawing/2014/main" id="{D7D85A20-3629-3C62-221C-68CE9AF0569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ACFDEE-3F57-C5AC-A230-75D7A9928169}"/>
              </a:ext>
            </a:extLst>
          </p:cNvPr>
          <p:cNvSpPr>
            <a:spLocks noGrp="1"/>
          </p:cNvSpPr>
          <p:nvPr>
            <p:ph type="sldNum" sz="quarter" idx="12"/>
          </p:nvPr>
        </p:nvSpPr>
        <p:spPr/>
        <p:txBody>
          <a:bodyPr/>
          <a:lstStyle/>
          <a:p>
            <a:fld id="{9AEBD660-1416-497C-ACDB-10BE7E608AE5}" type="slidenum">
              <a:rPr lang="en-IN" smtClean="0"/>
              <a:t>‹#›</a:t>
            </a:fld>
            <a:endParaRPr lang="en-IN"/>
          </a:p>
        </p:txBody>
      </p:sp>
    </p:spTree>
    <p:extLst>
      <p:ext uri="{BB962C8B-B14F-4D97-AF65-F5344CB8AC3E}">
        <p14:creationId xmlns:p14="http://schemas.microsoft.com/office/powerpoint/2010/main" val="1794825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95709-917D-3DA2-0A5B-2919904AE0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6139F64-13A7-347E-D8A5-65D449384B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794EE84-C3E0-604A-BE07-C600920BD3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0F539C-44A2-2722-3155-2C32F00F6494}"/>
              </a:ext>
            </a:extLst>
          </p:cNvPr>
          <p:cNvSpPr>
            <a:spLocks noGrp="1"/>
          </p:cNvSpPr>
          <p:nvPr>
            <p:ph type="dt" sz="half" idx="10"/>
          </p:nvPr>
        </p:nvSpPr>
        <p:spPr/>
        <p:txBody>
          <a:bodyPr/>
          <a:lstStyle/>
          <a:p>
            <a:fld id="{E9E4EFFB-01D8-4DAF-B750-E7398D0DE87F}" type="datetimeFigureOut">
              <a:rPr lang="en-IN" smtClean="0"/>
              <a:t>07-02-2026</a:t>
            </a:fld>
            <a:endParaRPr lang="en-IN"/>
          </a:p>
        </p:txBody>
      </p:sp>
      <p:sp>
        <p:nvSpPr>
          <p:cNvPr id="6" name="Footer Placeholder 5">
            <a:extLst>
              <a:ext uri="{FF2B5EF4-FFF2-40B4-BE49-F238E27FC236}">
                <a16:creationId xmlns:a16="http://schemas.microsoft.com/office/drawing/2014/main" id="{4C5C72D8-DAED-68D8-B764-B6DF0AD054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C41B66-67F7-A814-D871-63CFED4C016D}"/>
              </a:ext>
            </a:extLst>
          </p:cNvPr>
          <p:cNvSpPr>
            <a:spLocks noGrp="1"/>
          </p:cNvSpPr>
          <p:nvPr>
            <p:ph type="sldNum" sz="quarter" idx="12"/>
          </p:nvPr>
        </p:nvSpPr>
        <p:spPr/>
        <p:txBody>
          <a:bodyPr/>
          <a:lstStyle/>
          <a:p>
            <a:fld id="{9AEBD660-1416-497C-ACDB-10BE7E608AE5}" type="slidenum">
              <a:rPr lang="en-IN" smtClean="0"/>
              <a:t>‹#›</a:t>
            </a:fld>
            <a:endParaRPr lang="en-IN"/>
          </a:p>
        </p:txBody>
      </p:sp>
    </p:spTree>
    <p:extLst>
      <p:ext uri="{BB962C8B-B14F-4D97-AF65-F5344CB8AC3E}">
        <p14:creationId xmlns:p14="http://schemas.microsoft.com/office/powerpoint/2010/main" val="755515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28BA7-2641-D61F-CAF4-138DD0B678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0C5C3DA-12D8-0B59-4BC5-B0DDD5D385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54C45FF-6972-8169-31EA-810652496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8AFC39-6637-AA60-4211-67116BE02453}"/>
              </a:ext>
            </a:extLst>
          </p:cNvPr>
          <p:cNvSpPr>
            <a:spLocks noGrp="1"/>
          </p:cNvSpPr>
          <p:nvPr>
            <p:ph type="dt" sz="half" idx="10"/>
          </p:nvPr>
        </p:nvSpPr>
        <p:spPr/>
        <p:txBody>
          <a:bodyPr/>
          <a:lstStyle/>
          <a:p>
            <a:fld id="{E9E4EFFB-01D8-4DAF-B750-E7398D0DE87F}" type="datetimeFigureOut">
              <a:rPr lang="en-IN" smtClean="0"/>
              <a:t>07-02-2026</a:t>
            </a:fld>
            <a:endParaRPr lang="en-IN"/>
          </a:p>
        </p:txBody>
      </p:sp>
      <p:sp>
        <p:nvSpPr>
          <p:cNvPr id="6" name="Footer Placeholder 5">
            <a:extLst>
              <a:ext uri="{FF2B5EF4-FFF2-40B4-BE49-F238E27FC236}">
                <a16:creationId xmlns:a16="http://schemas.microsoft.com/office/drawing/2014/main" id="{E06BCE66-3014-8673-E1F2-95A0287910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DD8FC1-70C9-7BF1-9E34-F92F3039221F}"/>
              </a:ext>
            </a:extLst>
          </p:cNvPr>
          <p:cNvSpPr>
            <a:spLocks noGrp="1"/>
          </p:cNvSpPr>
          <p:nvPr>
            <p:ph type="sldNum" sz="quarter" idx="12"/>
          </p:nvPr>
        </p:nvSpPr>
        <p:spPr/>
        <p:txBody>
          <a:bodyPr/>
          <a:lstStyle/>
          <a:p>
            <a:fld id="{9AEBD660-1416-497C-ACDB-10BE7E608AE5}" type="slidenum">
              <a:rPr lang="en-IN" smtClean="0"/>
              <a:t>‹#›</a:t>
            </a:fld>
            <a:endParaRPr lang="en-IN"/>
          </a:p>
        </p:txBody>
      </p:sp>
    </p:spTree>
    <p:extLst>
      <p:ext uri="{BB962C8B-B14F-4D97-AF65-F5344CB8AC3E}">
        <p14:creationId xmlns:p14="http://schemas.microsoft.com/office/powerpoint/2010/main" val="4118502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E3834-F208-6B47-582A-B132157C065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BA0083-A191-0F26-4E6E-DA2E3DE9CA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6ADE79-5C15-0338-6A11-882496BF2566}"/>
              </a:ext>
            </a:extLst>
          </p:cNvPr>
          <p:cNvSpPr>
            <a:spLocks noGrp="1"/>
          </p:cNvSpPr>
          <p:nvPr>
            <p:ph type="dt" sz="half" idx="10"/>
          </p:nvPr>
        </p:nvSpPr>
        <p:spPr/>
        <p:txBody>
          <a:bodyPr/>
          <a:lstStyle/>
          <a:p>
            <a:fld id="{E9E4EFFB-01D8-4DAF-B750-E7398D0DE87F}" type="datetimeFigureOut">
              <a:rPr lang="en-IN" smtClean="0"/>
              <a:t>07-02-2026</a:t>
            </a:fld>
            <a:endParaRPr lang="en-IN"/>
          </a:p>
        </p:txBody>
      </p:sp>
      <p:sp>
        <p:nvSpPr>
          <p:cNvPr id="5" name="Footer Placeholder 4">
            <a:extLst>
              <a:ext uri="{FF2B5EF4-FFF2-40B4-BE49-F238E27FC236}">
                <a16:creationId xmlns:a16="http://schemas.microsoft.com/office/drawing/2014/main" id="{89C39F8E-20B7-0EA7-6F54-9E6ADF5DA3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575D2A-49CA-CF26-1C5B-ED94A4A2A50F}"/>
              </a:ext>
            </a:extLst>
          </p:cNvPr>
          <p:cNvSpPr>
            <a:spLocks noGrp="1"/>
          </p:cNvSpPr>
          <p:nvPr>
            <p:ph type="sldNum" sz="quarter" idx="12"/>
          </p:nvPr>
        </p:nvSpPr>
        <p:spPr/>
        <p:txBody>
          <a:bodyPr/>
          <a:lstStyle/>
          <a:p>
            <a:fld id="{9AEBD660-1416-497C-ACDB-10BE7E608AE5}" type="slidenum">
              <a:rPr lang="en-IN" smtClean="0"/>
              <a:t>‹#›</a:t>
            </a:fld>
            <a:endParaRPr lang="en-IN"/>
          </a:p>
        </p:txBody>
      </p:sp>
    </p:spTree>
    <p:extLst>
      <p:ext uri="{BB962C8B-B14F-4D97-AF65-F5344CB8AC3E}">
        <p14:creationId xmlns:p14="http://schemas.microsoft.com/office/powerpoint/2010/main" val="1755432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A81608-D9AA-17AB-9965-2DA51858E9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61DEE7-5A78-A18E-BF09-FA0DFBC1DE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5F3972-34D0-50B1-0BDC-FEA3A786CC16}"/>
              </a:ext>
            </a:extLst>
          </p:cNvPr>
          <p:cNvSpPr>
            <a:spLocks noGrp="1"/>
          </p:cNvSpPr>
          <p:nvPr>
            <p:ph type="dt" sz="half" idx="10"/>
          </p:nvPr>
        </p:nvSpPr>
        <p:spPr/>
        <p:txBody>
          <a:bodyPr/>
          <a:lstStyle/>
          <a:p>
            <a:fld id="{E9E4EFFB-01D8-4DAF-B750-E7398D0DE87F}" type="datetimeFigureOut">
              <a:rPr lang="en-IN" smtClean="0"/>
              <a:t>07-02-2026</a:t>
            </a:fld>
            <a:endParaRPr lang="en-IN"/>
          </a:p>
        </p:txBody>
      </p:sp>
      <p:sp>
        <p:nvSpPr>
          <p:cNvPr id="5" name="Footer Placeholder 4">
            <a:extLst>
              <a:ext uri="{FF2B5EF4-FFF2-40B4-BE49-F238E27FC236}">
                <a16:creationId xmlns:a16="http://schemas.microsoft.com/office/drawing/2014/main" id="{33C8A34A-A30D-94C1-8BFD-2A35A07408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F5F793-E4A1-578E-D60A-61BC7D4B1FD3}"/>
              </a:ext>
            </a:extLst>
          </p:cNvPr>
          <p:cNvSpPr>
            <a:spLocks noGrp="1"/>
          </p:cNvSpPr>
          <p:nvPr>
            <p:ph type="sldNum" sz="quarter" idx="12"/>
          </p:nvPr>
        </p:nvSpPr>
        <p:spPr/>
        <p:txBody>
          <a:bodyPr/>
          <a:lstStyle/>
          <a:p>
            <a:fld id="{9AEBD660-1416-497C-ACDB-10BE7E608AE5}" type="slidenum">
              <a:rPr lang="en-IN" smtClean="0"/>
              <a:t>‹#›</a:t>
            </a:fld>
            <a:endParaRPr lang="en-IN"/>
          </a:p>
        </p:txBody>
      </p:sp>
    </p:spTree>
    <p:extLst>
      <p:ext uri="{BB962C8B-B14F-4D97-AF65-F5344CB8AC3E}">
        <p14:creationId xmlns:p14="http://schemas.microsoft.com/office/powerpoint/2010/main" val="279972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B4798B-C6CE-E0A0-9D06-58AE5F5737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00C870-C07D-68B4-C2F8-505D75C48A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01FC9D-EC09-3361-77FA-8BA523CBEF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E4EFFB-01D8-4DAF-B750-E7398D0DE87F}" type="datetimeFigureOut">
              <a:rPr lang="en-IN" smtClean="0"/>
              <a:t>07-02-2026</a:t>
            </a:fld>
            <a:endParaRPr lang="en-IN"/>
          </a:p>
        </p:txBody>
      </p:sp>
      <p:sp>
        <p:nvSpPr>
          <p:cNvPr id="5" name="Footer Placeholder 4">
            <a:extLst>
              <a:ext uri="{FF2B5EF4-FFF2-40B4-BE49-F238E27FC236}">
                <a16:creationId xmlns:a16="http://schemas.microsoft.com/office/drawing/2014/main" id="{FB125AB9-2AC3-CC35-5940-CAAC0F8FD0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899BC42-81A0-895E-B660-6E5D1BDEBC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EBD660-1416-497C-ACDB-10BE7E608AE5}" type="slidenum">
              <a:rPr lang="en-IN" smtClean="0"/>
              <a:t>‹#›</a:t>
            </a:fld>
            <a:endParaRPr lang="en-IN"/>
          </a:p>
        </p:txBody>
      </p:sp>
    </p:spTree>
    <p:extLst>
      <p:ext uri="{BB962C8B-B14F-4D97-AF65-F5344CB8AC3E}">
        <p14:creationId xmlns:p14="http://schemas.microsoft.com/office/powerpoint/2010/main" val="2766455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logo of a college of engineering">
            <a:extLst>
              <a:ext uri="{FF2B5EF4-FFF2-40B4-BE49-F238E27FC236}">
                <a16:creationId xmlns:a16="http://schemas.microsoft.com/office/drawing/2014/main" id="{5E782127-1776-EBF6-6F56-E338D027E9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816" y="211570"/>
            <a:ext cx="1371364" cy="1581334"/>
          </a:xfrm>
          <a:prstGeom prst="rect">
            <a:avLst/>
          </a:prstGeom>
        </p:spPr>
      </p:pic>
      <p:sp>
        <p:nvSpPr>
          <p:cNvPr id="2" name="Title 1">
            <a:extLst>
              <a:ext uri="{FF2B5EF4-FFF2-40B4-BE49-F238E27FC236}">
                <a16:creationId xmlns:a16="http://schemas.microsoft.com/office/drawing/2014/main" id="{0E27D21A-F677-D92A-9C93-84BB607CCD9E}"/>
              </a:ext>
            </a:extLst>
          </p:cNvPr>
          <p:cNvSpPr>
            <a:spLocks noGrp="1"/>
          </p:cNvSpPr>
          <p:nvPr>
            <p:ph type="ctrTitle"/>
          </p:nvPr>
        </p:nvSpPr>
        <p:spPr>
          <a:xfrm>
            <a:off x="1184276" y="2084493"/>
            <a:ext cx="9797150" cy="1289065"/>
          </a:xfrm>
        </p:spPr>
        <p:txBody>
          <a:bodyPr>
            <a:normAutofit/>
          </a:bodyPr>
          <a:lstStyle/>
          <a:p>
            <a:r>
              <a:rPr lang="en-US" sz="3600" dirty="0">
                <a:latin typeface="Times New Roman" panose="02020603050405020304" pitchFamily="18" charset="0"/>
                <a:cs typeface="Times New Roman" panose="02020603050405020304" pitchFamily="18" charset="0"/>
              </a:rPr>
              <a:t>EfficientNetB6-Based Fake and Propaganda Image Detection using AGSK Optimization</a:t>
            </a:r>
            <a:endParaRPr lang="en-IN" sz="3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0267983-54B1-4147-F421-14199DF4B4C8}"/>
              </a:ext>
            </a:extLst>
          </p:cNvPr>
          <p:cNvSpPr>
            <a:spLocks noGrp="1"/>
          </p:cNvSpPr>
          <p:nvPr>
            <p:ph type="subTitle" idx="1"/>
          </p:nvPr>
        </p:nvSpPr>
        <p:spPr>
          <a:xfrm>
            <a:off x="6418053" y="4547977"/>
            <a:ext cx="4691058" cy="1445415"/>
          </a:xfrm>
        </p:spPr>
        <p:txBody>
          <a:bodyPr>
            <a:noAutofit/>
          </a:bodyPr>
          <a:lstStyle/>
          <a:p>
            <a:r>
              <a:rPr lang="en-IN" sz="1800" dirty="0">
                <a:latin typeface="Times New Roman" panose="02020603050405020304" pitchFamily="18" charset="0"/>
                <a:cs typeface="Times New Roman" panose="02020603050405020304" pitchFamily="18" charset="0"/>
              </a:rPr>
              <a:t>Under the Guidance of </a:t>
            </a:r>
          </a:p>
          <a:p>
            <a:r>
              <a:rPr lang="en-IN" sz="1800" dirty="0">
                <a:latin typeface="Times New Roman" panose="02020603050405020304" pitchFamily="18" charset="0"/>
                <a:cs typeface="Times New Roman" panose="02020603050405020304" pitchFamily="18" charset="0"/>
              </a:rPr>
              <a:t> </a:t>
            </a:r>
            <a:r>
              <a:rPr lang="en-US" sz="1800" b="1" spc="-5" dirty="0">
                <a:latin typeface="Times New Roman"/>
                <a:cs typeface="Times New Roman"/>
              </a:rPr>
              <a:t>Dr. M.V.P.CHANDRA SEKHKARA RAO</a:t>
            </a:r>
            <a:endParaRPr lang="en-IN" sz="12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H.O.D</a:t>
            </a:r>
          </a:p>
          <a:p>
            <a:r>
              <a:rPr lang="en-IN" sz="1800" dirty="0">
                <a:latin typeface="Times New Roman" panose="02020603050405020304" pitchFamily="18" charset="0"/>
                <a:cs typeface="Times New Roman" panose="02020603050405020304" pitchFamily="18" charset="0"/>
              </a:rPr>
              <a:t>Dept. of  CSD</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793B81E-B7E9-6783-B514-05FF009F1A3E}"/>
              </a:ext>
            </a:extLst>
          </p:cNvPr>
          <p:cNvSpPr txBox="1"/>
          <p:nvPr/>
        </p:nvSpPr>
        <p:spPr>
          <a:xfrm>
            <a:off x="1009411" y="4547977"/>
            <a:ext cx="4213330" cy="369332"/>
          </a:xfrm>
          <a:prstGeom prst="rect">
            <a:avLst/>
          </a:prstGeom>
          <a:noFill/>
        </p:spPr>
        <p:txBody>
          <a:bodyPr wrap="square" rtlCol="0">
            <a:spAutoFit/>
          </a:bodyPr>
          <a:lstStyle/>
          <a:p>
            <a:pPr defTabSz="457200"/>
            <a:r>
              <a:rPr lang="en-US" dirty="0">
                <a:solidFill>
                  <a:srgbClr val="000000"/>
                </a:solidFill>
                <a:latin typeface="Times New Roman" panose="02020603050405020304" pitchFamily="18" charset="0"/>
                <a:cs typeface="Times New Roman" panose="02020603050405020304" pitchFamily="18" charset="0"/>
              </a:rPr>
              <a:t>           Batch Number –Y22CD/12</a:t>
            </a:r>
            <a:endParaRPr lang="en-IN" altLang="en-US" dirty="0">
              <a:solidFill>
                <a:prstClr val="white"/>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4A21463-951E-BF48-6833-D2556E31407F}"/>
              </a:ext>
            </a:extLst>
          </p:cNvPr>
          <p:cNvSpPr txBox="1"/>
          <p:nvPr/>
        </p:nvSpPr>
        <p:spPr>
          <a:xfrm>
            <a:off x="3116076" y="565621"/>
            <a:ext cx="8872096" cy="861774"/>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R.V. R. &amp; J. C. College of Engineering</a:t>
            </a:r>
          </a:p>
          <a:p>
            <a:endParaRPr lang="en-US" dirty="0"/>
          </a:p>
        </p:txBody>
      </p:sp>
      <p:sp>
        <p:nvSpPr>
          <p:cNvPr id="9" name="TextBox 8">
            <a:extLst>
              <a:ext uri="{FF2B5EF4-FFF2-40B4-BE49-F238E27FC236}">
                <a16:creationId xmlns:a16="http://schemas.microsoft.com/office/drawing/2014/main" id="{9E7D0E08-C0E6-F480-705B-8CE68630DA7E}"/>
              </a:ext>
            </a:extLst>
          </p:cNvPr>
          <p:cNvSpPr txBox="1"/>
          <p:nvPr/>
        </p:nvSpPr>
        <p:spPr>
          <a:xfrm>
            <a:off x="562874" y="5086018"/>
            <a:ext cx="6094562" cy="1200329"/>
          </a:xfrm>
          <a:prstGeom prst="rect">
            <a:avLst/>
          </a:prstGeom>
          <a:noFill/>
        </p:spPr>
        <p:txBody>
          <a:bodyPr wrap="square">
            <a:spAutoFit/>
          </a:bodyPr>
          <a:lstStyle/>
          <a:p>
            <a:r>
              <a:rPr lang="en-IN" sz="1800" b="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Venkata Bhanu Teja Konijeti                   Y22CD079</a:t>
            </a:r>
          </a:p>
          <a:p>
            <a:r>
              <a:rPr lang="en-IN" dirty="0">
                <a:latin typeface="Times New Roman" panose="02020603050405020304" pitchFamily="18" charset="0"/>
                <a:ea typeface="Calibri" panose="020F0502020204030204" pitchFamily="34" charset="0"/>
                <a:cs typeface="Times New Roman" panose="02020603050405020304" pitchFamily="18" charset="0"/>
              </a:rPr>
              <a:t>Munnaluri Hanuman Sai Koushik           Y22CD109</a:t>
            </a:r>
          </a:p>
          <a:p>
            <a:r>
              <a:rPr lang="en-IN" sz="1800" b="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Kosuri Aarya Bhatt                                  L23CD197</a:t>
            </a:r>
          </a:p>
          <a:p>
            <a:r>
              <a:rPr lang="en-IN" dirty="0">
                <a:latin typeface="Times New Roman" panose="02020603050405020304" pitchFamily="18" charset="0"/>
                <a:ea typeface="Calibri" panose="020F0502020204030204" pitchFamily="34" charset="0"/>
                <a:cs typeface="Times New Roman" panose="02020603050405020304" pitchFamily="18" charset="0"/>
              </a:rPr>
              <a:t>Medisetti Ravi Manikanta Ram               Y22CD099</a:t>
            </a:r>
            <a:endParaRPr lang="en-IN" sz="1800" b="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68429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B18A5-92A7-D0D4-592E-644F70102F13}"/>
              </a:ext>
            </a:extLst>
          </p:cNvPr>
          <p:cNvSpPr>
            <a:spLocks noGrp="1"/>
          </p:cNvSpPr>
          <p:nvPr>
            <p:ph type="title"/>
          </p:nvPr>
        </p:nvSpPr>
        <p:spPr/>
        <p:txBody>
          <a:bodyPr>
            <a:normAutofit/>
          </a:bodyPr>
          <a:lstStyle/>
          <a:p>
            <a:pPr algn="ctr"/>
            <a:r>
              <a:rPr lang="en-IN" sz="4000"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A943A5AA-2949-D0A6-7E70-EA7074325A9E}"/>
              </a:ext>
            </a:extLst>
          </p:cNvPr>
          <p:cNvSpPr>
            <a:spLocks noGrp="1"/>
          </p:cNvSpPr>
          <p:nvPr>
            <p:ph idx="1"/>
          </p:nvPr>
        </p:nvSpPr>
        <p:spPr>
          <a:xfrm>
            <a:off x="838200" y="1302588"/>
            <a:ext cx="10515600" cy="5477773"/>
          </a:xfrm>
        </p:spPr>
        <p:txBody>
          <a:bodyPr>
            <a:normAutofit fontScale="92500" lnSpcReduction="10000"/>
          </a:bodyPr>
          <a:lstStyle/>
          <a:p>
            <a:r>
              <a:rPr lang="en-US" sz="2000" dirty="0">
                <a:latin typeface="Times New Roman" panose="02020603050405020304" pitchFamily="18" charset="0"/>
                <a:ea typeface="Calibri" panose="020F0502020204030204" pitchFamily="34" charset="0"/>
                <a:cs typeface="Times New Roman" panose="02020603050405020304" pitchFamily="18" charset="0"/>
              </a:rPr>
              <a:t>Abstract</a:t>
            </a:r>
          </a:p>
          <a:p>
            <a:r>
              <a:rPr lang="en-US" sz="2000" dirty="0">
                <a:latin typeface="Times New Roman" panose="02020603050405020304" pitchFamily="18" charset="0"/>
                <a:ea typeface="Calibri" panose="020F0502020204030204" pitchFamily="34" charset="0"/>
                <a:cs typeface="Times New Roman" panose="02020603050405020304" pitchFamily="18" charset="0"/>
                <a:sym typeface="+mn-ea"/>
              </a:rPr>
              <a:t>Problem Statement</a:t>
            </a:r>
          </a:p>
          <a:p>
            <a:r>
              <a:rPr lang="en-US" sz="2000" dirty="0">
                <a:latin typeface="Times New Roman" panose="02020603050405020304" pitchFamily="18" charset="0"/>
                <a:ea typeface="Calibri" panose="020F0502020204030204" pitchFamily="34" charset="0"/>
                <a:cs typeface="Times New Roman" panose="02020603050405020304" pitchFamily="18" charset="0"/>
                <a:sym typeface="+mn-ea"/>
              </a:rPr>
              <a:t>Literature</a:t>
            </a:r>
            <a:r>
              <a:rPr lang="en-IN" altLang="en-US" sz="2000" dirty="0">
                <a:latin typeface="Times New Roman" panose="02020603050405020304" pitchFamily="18" charset="0"/>
                <a:ea typeface="Calibri" panose="020F0502020204030204" pitchFamily="34" charset="0"/>
                <a:cs typeface="Times New Roman" panose="02020603050405020304" pitchFamily="18" charset="0"/>
                <a:sym typeface="+mn-ea"/>
              </a:rPr>
              <a:t> Survey</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r>
              <a:rPr lang="en-IN" altLang="en-US" sz="2000" dirty="0">
                <a:latin typeface="Times New Roman" panose="02020603050405020304" pitchFamily="18" charset="0"/>
                <a:ea typeface="Calibri" panose="020F0502020204030204" pitchFamily="34" charset="0"/>
                <a:cs typeface="Times New Roman" panose="02020603050405020304" pitchFamily="18" charset="0"/>
              </a:rPr>
              <a:t>Existing Work</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r>
              <a:rPr lang="en-US" sz="2000" dirty="0">
                <a:latin typeface="Times New Roman" panose="02020603050405020304" pitchFamily="18" charset="0"/>
                <a:ea typeface="Calibri" panose="020F0502020204030204" pitchFamily="34" charset="0"/>
                <a:cs typeface="Times New Roman" panose="02020603050405020304" pitchFamily="18" charset="0"/>
              </a:rPr>
              <a:t>Proposed </a:t>
            </a:r>
            <a:r>
              <a:rPr lang="en-IN" sz="2000" dirty="0">
                <a:latin typeface="Times New Roman" panose="02020603050405020304" pitchFamily="18" charset="0"/>
                <a:ea typeface="Calibri" panose="020F0502020204030204" pitchFamily="34" charset="0"/>
                <a:cs typeface="Times New Roman" panose="02020603050405020304" pitchFamily="18" charset="0"/>
              </a:rPr>
              <a:t>Work</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r>
              <a:rPr lang="en-IN" altLang="en-US" sz="2000" dirty="0">
                <a:latin typeface="Times New Roman" panose="02020603050405020304" pitchFamily="18" charset="0"/>
                <a:ea typeface="Calibri" panose="020F0502020204030204" pitchFamily="34" charset="0"/>
                <a:cs typeface="Times New Roman" panose="02020603050405020304" pitchFamily="18" charset="0"/>
              </a:rPr>
              <a:t>Block Diagram for Densenet121+agsk</a:t>
            </a:r>
          </a:p>
          <a:p>
            <a:r>
              <a:rPr lang="en-US" sz="2000" dirty="0">
                <a:latin typeface="Times New Roman" panose="02020603050405020304" pitchFamily="18" charset="0"/>
                <a:cs typeface="Times New Roman" panose="02020603050405020304" pitchFamily="18" charset="0"/>
              </a:rPr>
              <a:t>Results for Densenet121+agsk</a:t>
            </a:r>
            <a:endParaRPr lang="en-IN" altLang="en-US" sz="2000" dirty="0">
              <a:latin typeface="Times New Roman" panose="02020603050405020304" pitchFamily="18" charset="0"/>
              <a:ea typeface="Calibri" panose="020F0502020204030204" pitchFamily="34" charset="0"/>
              <a:cs typeface="Times New Roman" panose="02020603050405020304" pitchFamily="18" charset="0"/>
            </a:endParaRPr>
          </a:p>
          <a:p>
            <a:r>
              <a:rPr lang="en-IN" altLang="en-US" sz="2000" dirty="0">
                <a:latin typeface="Times New Roman" panose="02020603050405020304" pitchFamily="18" charset="0"/>
                <a:ea typeface="Calibri" panose="020F0502020204030204" pitchFamily="34" charset="0"/>
                <a:cs typeface="Times New Roman" panose="02020603050405020304" pitchFamily="18" charset="0"/>
              </a:rPr>
              <a:t>Block Diagram for Efficientnet-B6+agsk</a:t>
            </a:r>
          </a:p>
          <a:p>
            <a:r>
              <a:rPr lang="en-IN" altLang="en-US" sz="2000" dirty="0">
                <a:latin typeface="Times New Roman" panose="02020603050405020304" pitchFamily="18" charset="0"/>
                <a:ea typeface="Calibri" panose="020F0502020204030204" pitchFamily="34" charset="0"/>
                <a:cs typeface="Times New Roman" panose="02020603050405020304" pitchFamily="18" charset="0"/>
              </a:rPr>
              <a:t>Results for Efficientnet-B6 + agsk</a:t>
            </a:r>
          </a:p>
          <a:p>
            <a:r>
              <a:rPr lang="en-IN" sz="2000" dirty="0">
                <a:latin typeface="Times New Roman" panose="02020603050405020304" pitchFamily="18" charset="0"/>
                <a:ea typeface="Calibri" panose="020F0502020204030204" pitchFamily="34" charset="0"/>
                <a:cs typeface="Times New Roman" panose="02020603050405020304" pitchFamily="18" charset="0"/>
              </a:rPr>
              <a:t>Dataset</a:t>
            </a:r>
            <a:endParaRPr lang="en-IN" altLang="en-US" sz="2000" dirty="0">
              <a:latin typeface="Times New Roman" panose="02020603050405020304" pitchFamily="18" charset="0"/>
              <a:ea typeface="Calibri" panose="020F0502020204030204" pitchFamily="34" charset="0"/>
              <a:cs typeface="Times New Roman" panose="02020603050405020304" pitchFamily="18" charset="0"/>
            </a:endParaRPr>
          </a:p>
          <a:p>
            <a:r>
              <a:rPr lang="en-IN" sz="2000" dirty="0">
                <a:latin typeface="Times New Roman" panose="02020603050405020304" pitchFamily="18" charset="0"/>
                <a:ea typeface="Calibri" panose="020F0502020204030204" pitchFamily="34" charset="0"/>
                <a:cs typeface="Times New Roman" panose="02020603050405020304" pitchFamily="18" charset="0"/>
              </a:rPr>
              <a:t>Methodology</a:t>
            </a:r>
          </a:p>
          <a:p>
            <a:r>
              <a:rPr lang="en-IN" altLang="en-US" sz="2000" dirty="0">
                <a:latin typeface="Times New Roman" panose="02020603050405020304" pitchFamily="18" charset="0"/>
                <a:ea typeface="Calibri" panose="020F0502020204030204" pitchFamily="34" charset="0"/>
                <a:cs typeface="Times New Roman" panose="02020603050405020304" pitchFamily="18" charset="0"/>
              </a:rPr>
              <a:t>Results Comparison</a:t>
            </a:r>
          </a:p>
          <a:p>
            <a:r>
              <a:rPr lang="en-IN" altLang="en-US" sz="2000" dirty="0">
                <a:latin typeface="Times New Roman" panose="02020603050405020304" pitchFamily="18" charset="0"/>
                <a:ea typeface="Calibri" panose="020F0502020204030204" pitchFamily="34" charset="0"/>
                <a:cs typeface="Times New Roman" panose="02020603050405020304" pitchFamily="18" charset="0"/>
              </a:rPr>
              <a:t>Conclusion &amp; Future Scope</a:t>
            </a:r>
          </a:p>
          <a:p>
            <a:r>
              <a:rPr lang="en-IN" sz="2000" dirty="0">
                <a:latin typeface="Times New Roman" panose="02020603050405020304" pitchFamily="18" charset="0"/>
                <a:ea typeface="Calibri" panose="020F0502020204030204" pitchFamily="34" charset="0"/>
                <a:cs typeface="Times New Roman" panose="02020603050405020304" pitchFamily="18" charset="0"/>
              </a:rPr>
              <a:t>References</a:t>
            </a:r>
          </a:p>
          <a:p>
            <a:r>
              <a:rPr lang="en-IN" sz="2000" dirty="0">
                <a:latin typeface="Times New Roman" panose="02020603050405020304" pitchFamily="18" charset="0"/>
                <a:ea typeface="Calibri" panose="020F0502020204030204" pitchFamily="34" charset="0"/>
                <a:cs typeface="Times New Roman" panose="02020603050405020304" pitchFamily="18" charset="0"/>
              </a:rPr>
              <a:t>List of Publications</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45707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1EE4C-0335-BC25-5C45-6E2A28488344}"/>
              </a:ext>
            </a:extLst>
          </p:cNvPr>
          <p:cNvSpPr>
            <a:spLocks noGrp="1"/>
          </p:cNvSpPr>
          <p:nvPr>
            <p:ph type="title"/>
          </p:nvPr>
        </p:nvSpPr>
        <p:spPr>
          <a:xfrm>
            <a:off x="723900" y="185510"/>
            <a:ext cx="10515600" cy="1618796"/>
          </a:xfrm>
        </p:spPr>
        <p:txBody>
          <a:bodyPr>
            <a:normAutofit/>
          </a:bodyPr>
          <a:lstStyle/>
          <a:p>
            <a:pPr algn="r"/>
            <a:r>
              <a:rPr lang="en-US" dirty="0">
                <a:latin typeface="Times New Roman" panose="02020603050405020304" pitchFamily="18" charset="0"/>
                <a:cs typeface="Times New Roman" panose="02020603050405020304" pitchFamily="18" charset="0"/>
              </a:rPr>
              <a:t>                            Abstract</a:t>
            </a:r>
            <a:r>
              <a:rPr lang="en-US" sz="4000" dirty="0">
                <a:latin typeface="Times New Roman" panose="02020603050405020304" pitchFamily="18" charset="0"/>
                <a:cs typeface="Times New Roman" panose="02020603050405020304" pitchFamily="18" charset="0"/>
              </a:rPr>
              <a:t>					</a:t>
            </a:r>
            <a:endParaRPr lang="en-IN" sz="4000" dirty="0"/>
          </a:p>
        </p:txBody>
      </p:sp>
      <p:sp>
        <p:nvSpPr>
          <p:cNvPr id="3" name="Content Placeholder 2">
            <a:extLst>
              <a:ext uri="{FF2B5EF4-FFF2-40B4-BE49-F238E27FC236}">
                <a16:creationId xmlns:a16="http://schemas.microsoft.com/office/drawing/2014/main" id="{2EB523B7-B4AF-B870-9E0F-27DBAF1C003B}"/>
              </a:ext>
            </a:extLst>
          </p:cNvPr>
          <p:cNvSpPr>
            <a:spLocks noGrp="1"/>
          </p:cNvSpPr>
          <p:nvPr>
            <p:ph idx="1"/>
          </p:nvPr>
        </p:nvSpPr>
        <p:spPr>
          <a:xfrm>
            <a:off x="838200" y="1483744"/>
            <a:ext cx="10515600" cy="4925682"/>
          </a:xfrm>
        </p:spPr>
        <p:txBody>
          <a:bodyPr>
            <a:normAutofit lnSpcReduction="10000"/>
          </a:bodyPr>
          <a:lstStyle/>
          <a:p>
            <a:pPr marL="0" indent="0" algn="just">
              <a:lnSpc>
                <a:spcPct val="170000"/>
              </a:lnSpc>
              <a:buNone/>
            </a:pPr>
            <a:r>
              <a:rPr lang="en-US" sz="1800" dirty="0">
                <a:latin typeface="Times New Roman" panose="02020603050405020304" pitchFamily="18" charset="0"/>
                <a:cs typeface="Times New Roman" panose="02020603050405020304" pitchFamily="18" charset="0"/>
              </a:rPr>
              <a:t>Deepfake technology is a major threat to online security that allows for the production of highly realistic manipulated videos and images. Current detection methods tend to have difficulty generalizing because deepfake generation techniques keep changing. In order to tackle this problem, we introduce an enhanced deepfake detection system combining EfficientNet-B6 for stable feature extraction and Automated Adaptive Gaining Sharing Knowledge (AGSK) for adaptive hyperparameter tuning. The system is preprocessed by applying techniques like image normalization, resizing, data augmentation, and noise reduction to improve input quality. Capsule Networks are also utilized to preserve spatial hierarchies to enhance the classification accuracy. The suggested model is trained on a diverse set of data and achieves 99% training accuracy and 96% testing accuracy compared to traditional CNN-based models. This architecture provides a scalable and effective real-time deepfake detection method applicable in digital forensics, media authentication, and social media content moderation to prevent misinformation and confirm media authenticity.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0325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C4B31-18F4-7DA6-0B94-A8708A8528CE}"/>
              </a:ext>
            </a:extLst>
          </p:cNvPr>
          <p:cNvSpPr>
            <a:spLocks noGrp="1"/>
          </p:cNvSpPr>
          <p:nvPr>
            <p:ph type="title"/>
          </p:nvPr>
        </p:nvSpPr>
        <p:spPr>
          <a:xfrm>
            <a:off x="838200" y="463096"/>
            <a:ext cx="10515600" cy="1325563"/>
          </a:xfrm>
        </p:spPr>
        <p:txBody>
          <a:bodyPr>
            <a:normAutofit/>
          </a:bodyPr>
          <a:lstStyle/>
          <a:p>
            <a:pPr algn="ctr"/>
            <a:r>
              <a:rPr lang="en-IN" sz="4000" dirty="0">
                <a:latin typeface="Times New Roman" panose="02020603050405020304" pitchFamily="18" charset="0"/>
                <a:cs typeface="Times New Roman" panose="02020603050405020304" pitchFamily="18" charset="0"/>
              </a:rPr>
              <a:t>Problem Statement</a:t>
            </a:r>
            <a:endParaRPr lang="en-IN" sz="4000" dirty="0"/>
          </a:p>
        </p:txBody>
      </p:sp>
      <p:sp>
        <p:nvSpPr>
          <p:cNvPr id="3" name="Content Placeholder 2">
            <a:extLst>
              <a:ext uri="{FF2B5EF4-FFF2-40B4-BE49-F238E27FC236}">
                <a16:creationId xmlns:a16="http://schemas.microsoft.com/office/drawing/2014/main" id="{892BBF45-83C7-379E-1991-8D90F46B75F9}"/>
              </a:ext>
            </a:extLst>
          </p:cNvPr>
          <p:cNvSpPr>
            <a:spLocks noGrp="1"/>
          </p:cNvSpPr>
          <p:nvPr>
            <p:ph idx="1"/>
          </p:nvPr>
        </p:nvSpPr>
        <p:spPr>
          <a:xfrm>
            <a:off x="838200" y="2065564"/>
            <a:ext cx="10515600" cy="4111399"/>
          </a:xfrm>
        </p:spPr>
        <p:txBody>
          <a:bodyPr>
            <a:normAutofit lnSpcReduction="10000"/>
          </a:bodyPr>
          <a:lstStyle/>
          <a:p>
            <a:pPr marL="0" indent="0" algn="just">
              <a:lnSpc>
                <a:spcPct val="150000"/>
              </a:lnSpc>
              <a:buNone/>
            </a:pPr>
            <a:r>
              <a:rPr lang="en-US" sz="2000" b="0" i="0" dirty="0">
                <a:solidFill>
                  <a:srgbClr val="111111"/>
                </a:solidFill>
                <a:effectLst/>
                <a:latin typeface="Times New Roman" panose="02020603050405020304" pitchFamily="18" charset="0"/>
                <a:cs typeface="Times New Roman" panose="02020603050405020304" pitchFamily="18" charset="0"/>
              </a:rPr>
              <a:t>Deepfake and propaganda images have become a major concern as they are increasingly used to spread misinformation through highly sophisticated digital manipulations, making it difficult to distinguish them from authentic content. Existing detection methods often fall short in reliably identifying these manipulated images due to their high realism and the complexity of the alterations involved. To address this challenge, the paper proposes an automated deepfake detection framework that integrates the DenseNet121 architecture with an Adaptive Gaining Sharing Knowledge (AGSK) algorithm. This approach not only optimizes the model’s hyperparameters for enhanced feature extraction but also significantly improves accuracy and efficiency in distinguishing genuine images from deepfakes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8285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585BC-A4EA-C09D-D81B-FC7CA8977B5C}"/>
              </a:ext>
            </a:extLst>
          </p:cNvPr>
          <p:cNvSpPr>
            <a:spLocks noGrp="1"/>
          </p:cNvSpPr>
          <p:nvPr>
            <p:ph type="title"/>
          </p:nvPr>
        </p:nvSpPr>
        <p:spPr>
          <a:xfrm>
            <a:off x="911678" y="365125"/>
            <a:ext cx="10442122" cy="929821"/>
          </a:xfrm>
        </p:spPr>
        <p:txBody>
          <a:bodyPr>
            <a:normAutofit/>
          </a:bodyPr>
          <a:lstStyle/>
          <a:p>
            <a:pPr algn="ctr"/>
            <a:r>
              <a:rPr lang="en-IN" sz="4000" dirty="0">
                <a:latin typeface="Times New Roman" panose="02020603050405020304" pitchFamily="18" charset="0"/>
                <a:cs typeface="Times New Roman" panose="02020603050405020304" pitchFamily="18" charset="0"/>
              </a:rPr>
              <a:t>Literature Survey</a:t>
            </a:r>
            <a:endParaRPr lang="en-IN" sz="4000" dirty="0"/>
          </a:p>
        </p:txBody>
      </p:sp>
      <p:graphicFrame>
        <p:nvGraphicFramePr>
          <p:cNvPr id="6" name="Content Placeholder 5">
            <a:extLst>
              <a:ext uri="{FF2B5EF4-FFF2-40B4-BE49-F238E27FC236}">
                <a16:creationId xmlns:a16="http://schemas.microsoft.com/office/drawing/2014/main" id="{EB5618E2-B6BC-3D6B-F5BC-53706FD3DA0D}"/>
              </a:ext>
            </a:extLst>
          </p:cNvPr>
          <p:cNvGraphicFramePr>
            <a:graphicFrameLocks noGrp="1"/>
          </p:cNvGraphicFramePr>
          <p:nvPr>
            <p:ph idx="1"/>
            <p:extLst>
              <p:ext uri="{D42A27DB-BD31-4B8C-83A1-F6EECF244321}">
                <p14:modId xmlns:p14="http://schemas.microsoft.com/office/powerpoint/2010/main" val="3305325553"/>
              </p:ext>
            </p:extLst>
          </p:nvPr>
        </p:nvGraphicFramePr>
        <p:xfrm>
          <a:off x="460483" y="1321131"/>
          <a:ext cx="11344511" cy="3975487"/>
        </p:xfrm>
        <a:graphic>
          <a:graphicData uri="http://schemas.openxmlformats.org/drawingml/2006/table">
            <a:tbl>
              <a:tblPr firstRow="1" bandRow="1">
                <a:tableStyleId>{2D5ABB26-0587-4C30-8999-92F81FD0307C}</a:tableStyleId>
              </a:tblPr>
              <a:tblGrid>
                <a:gridCol w="2501420">
                  <a:extLst>
                    <a:ext uri="{9D8B030D-6E8A-4147-A177-3AD203B41FA5}">
                      <a16:colId xmlns:a16="http://schemas.microsoft.com/office/drawing/2014/main" val="3755483836"/>
                    </a:ext>
                  </a:extLst>
                </a:gridCol>
                <a:gridCol w="3430624">
                  <a:extLst>
                    <a:ext uri="{9D8B030D-6E8A-4147-A177-3AD203B41FA5}">
                      <a16:colId xmlns:a16="http://schemas.microsoft.com/office/drawing/2014/main" val="49164593"/>
                    </a:ext>
                  </a:extLst>
                </a:gridCol>
                <a:gridCol w="2624128">
                  <a:extLst>
                    <a:ext uri="{9D8B030D-6E8A-4147-A177-3AD203B41FA5}">
                      <a16:colId xmlns:a16="http://schemas.microsoft.com/office/drawing/2014/main" val="2442968008"/>
                    </a:ext>
                  </a:extLst>
                </a:gridCol>
                <a:gridCol w="2788339">
                  <a:extLst>
                    <a:ext uri="{9D8B030D-6E8A-4147-A177-3AD203B41FA5}">
                      <a16:colId xmlns:a16="http://schemas.microsoft.com/office/drawing/2014/main" val="2963548737"/>
                    </a:ext>
                  </a:extLst>
                </a:gridCol>
              </a:tblGrid>
              <a:tr h="607123">
                <a:tc>
                  <a:txBody>
                    <a:bodyPr/>
                    <a:lstStyle/>
                    <a:p>
                      <a:pPr marL="85725" marR="0" lvl="0" indent="0" algn="ctr" defTabSz="914400" rtl="0" eaLnBrk="1" fontAlgn="auto" latinLnBrk="0" hangingPunct="1">
                        <a:lnSpc>
                          <a:spcPct val="100000"/>
                        </a:lnSpc>
                        <a:spcBef>
                          <a:spcPts val="620"/>
                        </a:spcBef>
                        <a:spcAft>
                          <a:spcPts val="0"/>
                        </a:spcAft>
                        <a:buClrTx/>
                        <a:buSzTx/>
                        <a:buFontTx/>
                        <a:buNone/>
                        <a:tabLst/>
                        <a:defRPr/>
                      </a:pPr>
                      <a:r>
                        <a:rPr lang="en-US" sz="2000" b="0" spc="-15" dirty="0">
                          <a:latin typeface="Times New Roman" panose="02020603050405020304" pitchFamily="18" charset="0"/>
                          <a:cs typeface="Times New Roman" panose="02020603050405020304" pitchFamily="18" charset="0"/>
                        </a:rPr>
                        <a:t>Research Title</a:t>
                      </a:r>
                      <a:endParaRPr lang="en-US" sz="2000" b="0" dirty="0">
                        <a:latin typeface="Times New Roman" panose="02020603050405020304" pitchFamily="18" charset="0"/>
                        <a:cs typeface="Times New Roman" panose="02020603050405020304" pitchFamily="18"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ctr">
                        <a:lnSpc>
                          <a:spcPct val="100000"/>
                        </a:lnSpc>
                        <a:spcBef>
                          <a:spcPts val="620"/>
                        </a:spcBef>
                      </a:pPr>
                      <a:r>
                        <a:rPr lang="en-US" sz="2000" b="0" spc="-5" dirty="0">
                          <a:latin typeface="Times New Roman" panose="02020603050405020304" pitchFamily="18" charset="0"/>
                          <a:cs typeface="Times New Roman" panose="02020603050405020304" pitchFamily="18" charset="0"/>
                        </a:rPr>
                        <a:t>Problem</a:t>
                      </a:r>
                      <a:r>
                        <a:rPr lang="en-US" sz="2000" b="0" spc="-50" dirty="0">
                          <a:latin typeface="Times New Roman" panose="02020603050405020304" pitchFamily="18" charset="0"/>
                          <a:cs typeface="Times New Roman" panose="02020603050405020304" pitchFamily="18" charset="0"/>
                        </a:rPr>
                        <a:t> </a:t>
                      </a:r>
                      <a:r>
                        <a:rPr lang="en-US" sz="2000" b="0" spc="-5" dirty="0">
                          <a:latin typeface="Times New Roman" panose="02020603050405020304" pitchFamily="18" charset="0"/>
                          <a:cs typeface="Times New Roman" panose="02020603050405020304" pitchFamily="18" charset="0"/>
                        </a:rPr>
                        <a:t>Statement</a:t>
                      </a:r>
                      <a:endParaRPr lang="en-US" sz="2000" b="0" dirty="0">
                        <a:latin typeface="Times New Roman" panose="02020603050405020304" pitchFamily="18" charset="0"/>
                        <a:cs typeface="Times New Roman" panose="02020603050405020304" pitchFamily="18"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223520" marR="0" lvl="0" indent="0" algn="l" defTabSz="914400" rtl="0" eaLnBrk="1" fontAlgn="auto" latinLnBrk="0" hangingPunct="1">
                        <a:lnSpc>
                          <a:spcPct val="100000"/>
                        </a:lnSpc>
                        <a:spcBef>
                          <a:spcPts val="620"/>
                        </a:spcBef>
                        <a:spcAft>
                          <a:spcPts val="0"/>
                        </a:spcAft>
                        <a:buClrTx/>
                        <a:buSzTx/>
                        <a:buFontTx/>
                        <a:buNone/>
                        <a:tabLst/>
                        <a:defRPr/>
                      </a:pPr>
                      <a:r>
                        <a:rPr lang="en-US" sz="2000" b="0" spc="-5" dirty="0">
                          <a:latin typeface="Times New Roman" panose="02020603050405020304" pitchFamily="18" charset="0"/>
                          <a:cs typeface="Times New Roman" panose="02020603050405020304" pitchFamily="18" charset="0"/>
                        </a:rPr>
                        <a:t>Existing </a:t>
                      </a:r>
                      <a:r>
                        <a:rPr lang="en-US" sz="2000" b="0" spc="-50" dirty="0">
                          <a:latin typeface="Times New Roman" panose="02020603050405020304" pitchFamily="18" charset="0"/>
                          <a:cs typeface="Times New Roman" panose="02020603050405020304" pitchFamily="18" charset="0"/>
                        </a:rPr>
                        <a:t> Methodology</a:t>
                      </a:r>
                      <a:endParaRPr lang="en-US" sz="2000" b="0" dirty="0">
                        <a:latin typeface="Times New Roman" panose="02020603050405020304" pitchFamily="18" charset="0"/>
                        <a:cs typeface="Times New Roman" panose="02020603050405020304" pitchFamily="18"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ctr">
                        <a:lnSpc>
                          <a:spcPct val="100000"/>
                        </a:lnSpc>
                        <a:spcBef>
                          <a:spcPts val="620"/>
                        </a:spcBef>
                      </a:pPr>
                      <a:r>
                        <a:rPr lang="en-US" sz="2000" spc="-5" dirty="0">
                          <a:latin typeface="Times New Roman" panose="02020603050405020304" pitchFamily="18" charset="0"/>
                          <a:cs typeface="Times New Roman" panose="02020603050405020304" pitchFamily="18" charset="0"/>
                        </a:rPr>
                        <a:t>Parameters</a:t>
                      </a:r>
                      <a:endParaRPr sz="1800" dirty="0">
                        <a:latin typeface="Times New Roman" panose="02020603050405020304" pitchFamily="18" charset="0"/>
                        <a:cs typeface="Times New Roman" panose="02020603050405020304" pitchFamily="18"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2613327590"/>
                  </a:ext>
                </a:extLst>
              </a:tr>
              <a:tr h="1554562">
                <a:tc>
                  <a:txBody>
                    <a:bodyPr/>
                    <a:lstStyle/>
                    <a:p>
                      <a:pPr marL="85725" marR="268605">
                        <a:lnSpc>
                          <a:spcPct val="114999"/>
                        </a:lnSpc>
                        <a:spcBef>
                          <a:spcPts val="409"/>
                        </a:spcBef>
                      </a:pPr>
                      <a:r>
                        <a:rPr lang="en-US" sz="1200" dirty="0"/>
                        <a:t>Deep Neural Network-Based Detection of Facial Artifacts(2021)</a:t>
                      </a:r>
                      <a:endParaRPr sz="1200" dirty="0">
                        <a:latin typeface="Times New Roman" panose="02020603050405020304" pitchFamily="18" charset="0"/>
                        <a:cs typeface="Times New Roman" panose="02020603050405020304" pitchFamily="18" charset="0"/>
                      </a:endParaRPr>
                    </a:p>
                  </a:txBody>
                  <a:tcPr marL="0" marR="0" marT="52069"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297180" algn="just">
                        <a:lnSpc>
                          <a:spcPct val="100000"/>
                        </a:lnSpc>
                        <a:spcBef>
                          <a:spcPts val="625"/>
                        </a:spcBef>
                      </a:pPr>
                      <a:r>
                        <a:rPr lang="en-US" sz="1200" dirty="0"/>
                        <a:t>Traditional feature extraction methods struggle to detect subtle alterations in deepfake images, leading to lower detection accuracy. There is a need for an adaptive model that can efficiently analyze facial artifacts and identify synthetic modifications.</a:t>
                      </a:r>
                      <a:endParaRPr sz="1200" dirty="0">
                        <a:latin typeface="Times New Roman" panose="02020603050405020304" pitchFamily="18" charset="0"/>
                        <a:cs typeface="Times New Roman" panose="02020603050405020304" pitchFamily="18" charset="0"/>
                      </a:endParaRPr>
                    </a:p>
                  </a:txBody>
                  <a:tcPr marL="0" marR="0" marT="7937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529590">
                        <a:lnSpc>
                          <a:spcPct val="114999"/>
                        </a:lnSpc>
                        <a:spcBef>
                          <a:spcPts val="409"/>
                        </a:spcBef>
                      </a:pPr>
                      <a:r>
                        <a:rPr lang="en-US" sz="1200" dirty="0"/>
                        <a:t>Used a </a:t>
                      </a:r>
                      <a:r>
                        <a:rPr lang="en-US" sz="1200" b="1" dirty="0"/>
                        <a:t>DNN</a:t>
                      </a:r>
                      <a:r>
                        <a:rPr lang="en-US" sz="1200" dirty="0"/>
                        <a:t> to analyze facial artifacts, extract features, and classify real vs. fake images.</a:t>
                      </a:r>
                      <a:endParaRPr sz="1200" dirty="0">
                        <a:latin typeface="Times New Roman" panose="02020603050405020304" pitchFamily="18" charset="0"/>
                        <a:cs typeface="Times New Roman" panose="02020603050405020304" pitchFamily="18" charset="0"/>
                      </a:endParaRPr>
                    </a:p>
                  </a:txBody>
                  <a:tcPr marL="0" marR="0" marT="52069"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r>
                        <a:rPr lang="en-IN" sz="1200" b="1" dirty="0"/>
                        <a:t>Accuracy:</a:t>
                      </a:r>
                      <a:r>
                        <a:rPr lang="en-IN" sz="1200" dirty="0"/>
                        <a:t> 86.30%</a:t>
                      </a:r>
                    </a:p>
                    <a:p>
                      <a:r>
                        <a:rPr lang="en-IN" sz="1200" b="1" dirty="0"/>
                        <a:t>Precision:</a:t>
                      </a:r>
                      <a:r>
                        <a:rPr lang="en-IN" sz="1200" dirty="0"/>
                        <a:t> 0.78</a:t>
                      </a:r>
                    </a:p>
                    <a:p>
                      <a:r>
                        <a:rPr lang="en-IN" sz="1200" b="1" dirty="0"/>
                        <a:t>Recall:</a:t>
                      </a:r>
                      <a:r>
                        <a:rPr lang="en-IN" sz="1200" dirty="0"/>
                        <a:t> 0.77</a:t>
                      </a:r>
                    </a:p>
                    <a:p>
                      <a:r>
                        <a:rPr lang="en-IN" sz="1200" b="1" dirty="0"/>
                        <a:t>F1 Score:</a:t>
                      </a:r>
                      <a:r>
                        <a:rPr lang="en-IN" sz="1200" dirty="0"/>
                        <a:t> 0.78</a:t>
                      </a:r>
                    </a:p>
                    <a:p>
                      <a:pPr marL="85725" marR="217804">
                        <a:lnSpc>
                          <a:spcPct val="100000"/>
                        </a:lnSpc>
                        <a:spcBef>
                          <a:spcPts val="625"/>
                        </a:spcBef>
                      </a:pPr>
                      <a:r>
                        <a:rPr lang="en-US" sz="1200" dirty="0">
                          <a:latin typeface="Times New Roman"/>
                          <a:cs typeface="Times New Roman"/>
                        </a:rPr>
                        <a:t> </a:t>
                      </a:r>
                      <a:endParaRPr sz="1200" dirty="0">
                        <a:latin typeface="Times New Roman"/>
                        <a:cs typeface="Times New Roman"/>
                      </a:endParaRPr>
                    </a:p>
                  </a:txBody>
                  <a:tcPr marL="0" marR="0" marT="7937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4240431753"/>
                  </a:ext>
                </a:extLst>
              </a:tr>
              <a:tr h="1813802">
                <a:tc>
                  <a:txBody>
                    <a:bodyPr/>
                    <a:lstStyle/>
                    <a:p>
                      <a:pPr marL="85725" marR="373380">
                        <a:lnSpc>
                          <a:spcPct val="120000"/>
                        </a:lnSpc>
                        <a:spcBef>
                          <a:spcPts val="340"/>
                        </a:spcBef>
                      </a:pPr>
                      <a:r>
                        <a:rPr lang="en-IN" sz="1200" dirty="0"/>
                        <a:t>ANN-Based Deepfake Detection(2020)</a:t>
                      </a:r>
                      <a:endParaRPr sz="1200" dirty="0">
                        <a:latin typeface="Times New Roman" panose="02020603050405020304" pitchFamily="18" charset="0"/>
                        <a:cs typeface="Times New Roman" panose="02020603050405020304" pitchFamily="18" charset="0"/>
                      </a:endParaRPr>
                    </a:p>
                  </a:txBody>
                  <a:tcPr marL="0" marR="0" marT="4318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109855" algn="just">
                        <a:lnSpc>
                          <a:spcPct val="100000"/>
                        </a:lnSpc>
                        <a:spcBef>
                          <a:spcPts val="625"/>
                        </a:spcBef>
                      </a:pPr>
                      <a:r>
                        <a:rPr lang="en-US" sz="1200" dirty="0"/>
                        <a:t>Existing deepfake detection methods lack adaptability and fail to generalize across different manipulation techniques. An artificial neural network is required to recognize deepfake distortions efficiently.</a:t>
                      </a:r>
                      <a:endParaRPr sz="1200" dirty="0">
                        <a:latin typeface="Times New Roman" panose="02020603050405020304" pitchFamily="18" charset="0"/>
                        <a:cs typeface="Times New Roman" panose="02020603050405020304" pitchFamily="18" charset="0"/>
                      </a:endParaRPr>
                    </a:p>
                  </a:txBody>
                  <a:tcPr marL="0" marR="0" marT="7937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123825">
                        <a:lnSpc>
                          <a:spcPct val="100000"/>
                        </a:lnSpc>
                        <a:spcBef>
                          <a:spcPts val="625"/>
                        </a:spcBef>
                      </a:pP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dirty="0"/>
                        <a:t>Implemented an </a:t>
                      </a:r>
                      <a:r>
                        <a:rPr lang="en-US" sz="1200" b="1" dirty="0"/>
                        <a:t>ANN</a:t>
                      </a:r>
                      <a:r>
                        <a:rPr lang="en-US" sz="1200" dirty="0"/>
                        <a:t> to learn deepfake distortions and improve classification accuracy.</a:t>
                      </a:r>
                      <a:endParaRPr sz="1200" dirty="0">
                        <a:latin typeface="Times New Roman" panose="02020603050405020304" pitchFamily="18" charset="0"/>
                        <a:cs typeface="Times New Roman" panose="02020603050405020304" pitchFamily="18" charset="0"/>
                      </a:endParaRPr>
                    </a:p>
                  </a:txBody>
                  <a:tcPr marL="0" marR="0" marT="7937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r>
                        <a:rPr lang="en-IN" sz="1200" b="1" dirty="0"/>
                        <a:t>Accuracy:</a:t>
                      </a:r>
                      <a:r>
                        <a:rPr lang="en-IN" sz="1200" dirty="0"/>
                        <a:t> 89.50%</a:t>
                      </a:r>
                    </a:p>
                    <a:p>
                      <a:r>
                        <a:rPr lang="en-IN" sz="1200" b="1" dirty="0"/>
                        <a:t>Precision:</a:t>
                      </a:r>
                      <a:r>
                        <a:rPr lang="en-IN" sz="1200" dirty="0"/>
                        <a:t> 0.81</a:t>
                      </a:r>
                    </a:p>
                    <a:p>
                      <a:r>
                        <a:rPr lang="en-IN" sz="1200" b="1" dirty="0"/>
                        <a:t>Recall:</a:t>
                      </a:r>
                      <a:r>
                        <a:rPr lang="en-IN" sz="1200" dirty="0"/>
                        <a:t> 0.79</a:t>
                      </a:r>
                    </a:p>
                    <a:p>
                      <a:r>
                        <a:rPr lang="en-IN" sz="1200" b="1" dirty="0"/>
                        <a:t>F1 Score:</a:t>
                      </a:r>
                      <a:r>
                        <a:rPr lang="en-IN" sz="1200" dirty="0"/>
                        <a:t> 0.80</a:t>
                      </a:r>
                    </a:p>
                    <a:p>
                      <a:pPr marL="85725" marR="217804">
                        <a:lnSpc>
                          <a:spcPct val="100000"/>
                        </a:lnSpc>
                        <a:spcBef>
                          <a:spcPts val="625"/>
                        </a:spcBef>
                      </a:pPr>
                      <a:r>
                        <a:rPr lang="en-US" sz="1200" dirty="0">
                          <a:latin typeface="Times New Roman"/>
                          <a:cs typeface="Times New Roman"/>
                        </a:rPr>
                        <a:t> </a:t>
                      </a:r>
                    </a:p>
                  </a:txBody>
                  <a:tcPr marL="0" marR="0" marT="7937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803446363"/>
                  </a:ext>
                </a:extLst>
              </a:tr>
            </a:tbl>
          </a:graphicData>
        </a:graphic>
      </p:graphicFrame>
    </p:spTree>
    <p:extLst>
      <p:ext uri="{BB962C8B-B14F-4D97-AF65-F5344CB8AC3E}">
        <p14:creationId xmlns:p14="http://schemas.microsoft.com/office/powerpoint/2010/main" val="298691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5">
            <a:extLst>
              <a:ext uri="{FF2B5EF4-FFF2-40B4-BE49-F238E27FC236}">
                <a16:creationId xmlns:a16="http://schemas.microsoft.com/office/drawing/2014/main" id="{C58D2F50-079A-BDD1-7B41-2384D7FB450B}"/>
              </a:ext>
            </a:extLst>
          </p:cNvPr>
          <p:cNvGraphicFramePr>
            <a:graphicFrameLocks/>
          </p:cNvGraphicFramePr>
          <p:nvPr>
            <p:extLst>
              <p:ext uri="{D42A27DB-BD31-4B8C-83A1-F6EECF244321}">
                <p14:modId xmlns:p14="http://schemas.microsoft.com/office/powerpoint/2010/main" val="382375695"/>
              </p:ext>
            </p:extLst>
          </p:nvPr>
        </p:nvGraphicFramePr>
        <p:xfrm>
          <a:off x="460483" y="1321131"/>
          <a:ext cx="11344511" cy="3975487"/>
        </p:xfrm>
        <a:graphic>
          <a:graphicData uri="http://schemas.openxmlformats.org/drawingml/2006/table">
            <a:tbl>
              <a:tblPr firstRow="1" bandRow="1">
                <a:tableStyleId>{2D5ABB26-0587-4C30-8999-92F81FD0307C}</a:tableStyleId>
              </a:tblPr>
              <a:tblGrid>
                <a:gridCol w="2501420">
                  <a:extLst>
                    <a:ext uri="{9D8B030D-6E8A-4147-A177-3AD203B41FA5}">
                      <a16:colId xmlns:a16="http://schemas.microsoft.com/office/drawing/2014/main" val="3755483836"/>
                    </a:ext>
                  </a:extLst>
                </a:gridCol>
                <a:gridCol w="3430624">
                  <a:extLst>
                    <a:ext uri="{9D8B030D-6E8A-4147-A177-3AD203B41FA5}">
                      <a16:colId xmlns:a16="http://schemas.microsoft.com/office/drawing/2014/main" val="49164593"/>
                    </a:ext>
                  </a:extLst>
                </a:gridCol>
                <a:gridCol w="2624128">
                  <a:extLst>
                    <a:ext uri="{9D8B030D-6E8A-4147-A177-3AD203B41FA5}">
                      <a16:colId xmlns:a16="http://schemas.microsoft.com/office/drawing/2014/main" val="2442968008"/>
                    </a:ext>
                  </a:extLst>
                </a:gridCol>
                <a:gridCol w="2788339">
                  <a:extLst>
                    <a:ext uri="{9D8B030D-6E8A-4147-A177-3AD203B41FA5}">
                      <a16:colId xmlns:a16="http://schemas.microsoft.com/office/drawing/2014/main" val="2963548737"/>
                    </a:ext>
                  </a:extLst>
                </a:gridCol>
              </a:tblGrid>
              <a:tr h="607123">
                <a:tc>
                  <a:txBody>
                    <a:bodyPr/>
                    <a:lstStyle/>
                    <a:p>
                      <a:pPr marL="85725" marR="0" lvl="0" indent="0" algn="ctr" defTabSz="914400" rtl="0" eaLnBrk="1" fontAlgn="auto" latinLnBrk="0" hangingPunct="1">
                        <a:lnSpc>
                          <a:spcPct val="100000"/>
                        </a:lnSpc>
                        <a:spcBef>
                          <a:spcPts val="620"/>
                        </a:spcBef>
                        <a:spcAft>
                          <a:spcPts val="0"/>
                        </a:spcAft>
                        <a:buClrTx/>
                        <a:buSzTx/>
                        <a:buFontTx/>
                        <a:buNone/>
                        <a:tabLst/>
                        <a:defRPr/>
                      </a:pPr>
                      <a:r>
                        <a:rPr lang="en-US" sz="2000" b="0" spc="-15" dirty="0">
                          <a:latin typeface="Times New Roman" panose="02020603050405020304" pitchFamily="18" charset="0"/>
                          <a:cs typeface="Times New Roman" panose="02020603050405020304" pitchFamily="18" charset="0"/>
                        </a:rPr>
                        <a:t>Research Title</a:t>
                      </a:r>
                      <a:endParaRPr lang="en-US" sz="2000" b="0" dirty="0">
                        <a:latin typeface="Times New Roman" panose="02020603050405020304" pitchFamily="18" charset="0"/>
                        <a:cs typeface="Times New Roman" panose="02020603050405020304" pitchFamily="18"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ctr">
                        <a:lnSpc>
                          <a:spcPct val="100000"/>
                        </a:lnSpc>
                        <a:spcBef>
                          <a:spcPts val="620"/>
                        </a:spcBef>
                      </a:pPr>
                      <a:r>
                        <a:rPr lang="en-US" sz="2000" b="0" spc="-5" dirty="0">
                          <a:latin typeface="Times New Roman" panose="02020603050405020304" pitchFamily="18" charset="0"/>
                          <a:cs typeface="Times New Roman" panose="02020603050405020304" pitchFamily="18" charset="0"/>
                        </a:rPr>
                        <a:t>Problem</a:t>
                      </a:r>
                      <a:r>
                        <a:rPr lang="en-US" sz="2000" b="0" spc="-50" dirty="0">
                          <a:latin typeface="Times New Roman" panose="02020603050405020304" pitchFamily="18" charset="0"/>
                          <a:cs typeface="Times New Roman" panose="02020603050405020304" pitchFamily="18" charset="0"/>
                        </a:rPr>
                        <a:t> </a:t>
                      </a:r>
                      <a:r>
                        <a:rPr lang="en-US" sz="2000" b="0" spc="-5" dirty="0">
                          <a:latin typeface="Times New Roman" panose="02020603050405020304" pitchFamily="18" charset="0"/>
                          <a:cs typeface="Times New Roman" panose="02020603050405020304" pitchFamily="18" charset="0"/>
                        </a:rPr>
                        <a:t>Statement</a:t>
                      </a:r>
                      <a:endParaRPr lang="en-US" sz="2000" b="0" dirty="0">
                        <a:latin typeface="Times New Roman" panose="02020603050405020304" pitchFamily="18" charset="0"/>
                        <a:cs typeface="Times New Roman" panose="02020603050405020304" pitchFamily="18"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223520" marR="0" lvl="0" indent="0" algn="l" defTabSz="914400" rtl="0" eaLnBrk="1" fontAlgn="auto" latinLnBrk="0" hangingPunct="1">
                        <a:lnSpc>
                          <a:spcPct val="100000"/>
                        </a:lnSpc>
                        <a:spcBef>
                          <a:spcPts val="620"/>
                        </a:spcBef>
                        <a:spcAft>
                          <a:spcPts val="0"/>
                        </a:spcAft>
                        <a:buClrTx/>
                        <a:buSzTx/>
                        <a:buFontTx/>
                        <a:buNone/>
                        <a:tabLst/>
                        <a:defRPr/>
                      </a:pPr>
                      <a:r>
                        <a:rPr lang="en-US" sz="2000" b="0" spc="-5" dirty="0">
                          <a:latin typeface="Times New Roman" panose="02020603050405020304" pitchFamily="18" charset="0"/>
                          <a:cs typeface="Times New Roman" panose="02020603050405020304" pitchFamily="18" charset="0"/>
                        </a:rPr>
                        <a:t>Existing</a:t>
                      </a:r>
                      <a:r>
                        <a:rPr lang="en-US" sz="2000" b="0" spc="-50" dirty="0">
                          <a:latin typeface="Times New Roman" panose="02020603050405020304" pitchFamily="18" charset="0"/>
                          <a:cs typeface="Times New Roman" panose="02020603050405020304" pitchFamily="18" charset="0"/>
                        </a:rPr>
                        <a:t> Methodology</a:t>
                      </a:r>
                      <a:endParaRPr lang="en-US" sz="2000" b="0" dirty="0">
                        <a:latin typeface="Times New Roman" panose="02020603050405020304" pitchFamily="18" charset="0"/>
                        <a:cs typeface="Times New Roman" panose="02020603050405020304" pitchFamily="18"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ctr">
                        <a:lnSpc>
                          <a:spcPct val="100000"/>
                        </a:lnSpc>
                        <a:spcBef>
                          <a:spcPts val="620"/>
                        </a:spcBef>
                      </a:pPr>
                      <a:r>
                        <a:rPr lang="en-US" sz="2000" spc="-5" dirty="0">
                          <a:latin typeface="Times New Roman" panose="02020603050405020304" pitchFamily="18" charset="0"/>
                          <a:cs typeface="Times New Roman" panose="02020603050405020304" pitchFamily="18" charset="0"/>
                        </a:rPr>
                        <a:t>Parameters</a:t>
                      </a:r>
                      <a:endParaRPr sz="1800" dirty="0">
                        <a:latin typeface="Times New Roman" panose="02020603050405020304" pitchFamily="18" charset="0"/>
                        <a:cs typeface="Times New Roman" panose="02020603050405020304" pitchFamily="18"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2613327590"/>
                  </a:ext>
                </a:extLst>
              </a:tr>
              <a:tr h="1554562">
                <a:tc>
                  <a:txBody>
                    <a:bodyPr/>
                    <a:lstStyle/>
                    <a:p>
                      <a:pPr marL="85725" marR="268605">
                        <a:lnSpc>
                          <a:spcPct val="114999"/>
                        </a:lnSpc>
                        <a:spcBef>
                          <a:spcPts val="409"/>
                        </a:spcBef>
                      </a:pPr>
                      <a:r>
                        <a:rPr lang="en-US" sz="1200" dirty="0"/>
                        <a:t>Adversarial Training for Deepfake Detection Using Generative Adversarial Networks (GANs)</a:t>
                      </a:r>
                      <a:r>
                        <a:rPr lang="en-IN" sz="1200" dirty="0"/>
                        <a:t>(2020)</a:t>
                      </a:r>
                      <a:endParaRPr sz="1200" dirty="0">
                        <a:latin typeface="Times New Roman" panose="02020603050405020304" pitchFamily="18" charset="0"/>
                        <a:cs typeface="Times New Roman" panose="02020603050405020304" pitchFamily="18" charset="0"/>
                      </a:endParaRPr>
                    </a:p>
                  </a:txBody>
                  <a:tcPr marL="0" marR="0" marT="52069"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297180" algn="just">
                        <a:lnSpc>
                          <a:spcPct val="100000"/>
                        </a:lnSpc>
                        <a:spcBef>
                          <a:spcPts val="625"/>
                        </a:spcBef>
                      </a:pPr>
                      <a:r>
                        <a:rPr lang="en-US" sz="1200" dirty="0"/>
                        <a:t>Deepfake detection models often fail against high-quality deepfakes due to their limited ability to learn evolving deepfake techniques. A more dynamic and adversarial approach is needed.</a:t>
                      </a:r>
                      <a:endParaRPr sz="1200" dirty="0">
                        <a:latin typeface="Times New Roman" panose="02020603050405020304" pitchFamily="18" charset="0"/>
                        <a:cs typeface="Times New Roman" panose="02020603050405020304" pitchFamily="18" charset="0"/>
                      </a:endParaRPr>
                    </a:p>
                  </a:txBody>
                  <a:tcPr marL="0" marR="0" marT="7937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529590">
                        <a:lnSpc>
                          <a:spcPct val="114999"/>
                        </a:lnSpc>
                        <a:spcBef>
                          <a:spcPts val="409"/>
                        </a:spcBef>
                      </a:pPr>
                      <a:r>
                        <a:rPr lang="en-US" sz="1200" dirty="0"/>
                        <a:t>Developed a </a:t>
                      </a:r>
                      <a:r>
                        <a:rPr lang="en-US" sz="1200" b="1" dirty="0"/>
                        <a:t>GAN-based model</a:t>
                      </a:r>
                      <a:r>
                        <a:rPr lang="en-US" sz="1200" dirty="0"/>
                        <a:t> using adversarial training to refine fake image detection.</a:t>
                      </a:r>
                      <a:endParaRPr sz="1200" dirty="0">
                        <a:latin typeface="Times New Roman" panose="02020603050405020304" pitchFamily="18" charset="0"/>
                        <a:cs typeface="Times New Roman" panose="02020603050405020304" pitchFamily="18" charset="0"/>
                      </a:endParaRPr>
                    </a:p>
                  </a:txBody>
                  <a:tcPr marL="0" marR="0" marT="52069"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r>
                        <a:rPr lang="en-IN" sz="1200" b="1" dirty="0"/>
                        <a:t>Accuracy:</a:t>
                      </a:r>
                      <a:r>
                        <a:rPr lang="en-IN" sz="1200" dirty="0"/>
                        <a:t> 92.80%</a:t>
                      </a:r>
                    </a:p>
                    <a:p>
                      <a:r>
                        <a:rPr lang="en-IN" sz="1200" b="1" dirty="0"/>
                        <a:t>Precision:</a:t>
                      </a:r>
                      <a:r>
                        <a:rPr lang="en-IN" sz="1200" dirty="0"/>
                        <a:t> 0.84</a:t>
                      </a:r>
                    </a:p>
                    <a:p>
                      <a:r>
                        <a:rPr lang="en-IN" sz="1200" b="1" dirty="0"/>
                        <a:t>Recall:</a:t>
                      </a:r>
                      <a:r>
                        <a:rPr lang="en-IN" sz="1200" dirty="0"/>
                        <a:t> 0.82</a:t>
                      </a:r>
                    </a:p>
                    <a:p>
                      <a:r>
                        <a:rPr lang="en-IN" sz="1200" b="1" dirty="0"/>
                        <a:t>F1 Score:</a:t>
                      </a:r>
                      <a:r>
                        <a:rPr lang="en-IN" sz="1200" dirty="0"/>
                        <a:t> 0.83</a:t>
                      </a:r>
                    </a:p>
                    <a:p>
                      <a:pPr marL="85725" marR="217804">
                        <a:lnSpc>
                          <a:spcPct val="100000"/>
                        </a:lnSpc>
                        <a:spcBef>
                          <a:spcPts val="625"/>
                        </a:spcBef>
                      </a:pPr>
                      <a:r>
                        <a:rPr lang="en-US" sz="1200" dirty="0">
                          <a:latin typeface="Times New Roman"/>
                          <a:cs typeface="Times New Roman"/>
                        </a:rPr>
                        <a:t> </a:t>
                      </a:r>
                      <a:endParaRPr sz="1200" dirty="0">
                        <a:latin typeface="Times New Roman"/>
                        <a:cs typeface="Times New Roman"/>
                      </a:endParaRPr>
                    </a:p>
                  </a:txBody>
                  <a:tcPr marL="0" marR="0" marT="7937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4240431753"/>
                  </a:ext>
                </a:extLst>
              </a:tr>
              <a:tr h="1813802">
                <a:tc>
                  <a:txBody>
                    <a:bodyPr/>
                    <a:lstStyle/>
                    <a:p>
                      <a:pPr marL="85725" marR="373380">
                        <a:lnSpc>
                          <a:spcPct val="120000"/>
                        </a:lnSpc>
                        <a:spcBef>
                          <a:spcPts val="340"/>
                        </a:spcBef>
                      </a:pPr>
                      <a:r>
                        <a:rPr lang="en-US" sz="1200" dirty="0"/>
                        <a:t>Hybrid CNN-LSTM Model for Deepfake Detection (New Study)(2020)</a:t>
                      </a:r>
                      <a:endParaRPr sz="1200" dirty="0">
                        <a:latin typeface="Times New Roman" panose="02020603050405020304" pitchFamily="18" charset="0"/>
                        <a:cs typeface="Times New Roman" panose="02020603050405020304" pitchFamily="18" charset="0"/>
                      </a:endParaRPr>
                    </a:p>
                  </a:txBody>
                  <a:tcPr marL="0" marR="0" marT="4318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109855" algn="just">
                        <a:lnSpc>
                          <a:spcPct val="100000"/>
                        </a:lnSpc>
                        <a:spcBef>
                          <a:spcPts val="625"/>
                        </a:spcBef>
                      </a:pPr>
                      <a:r>
                        <a:rPr lang="en-US" sz="1200" dirty="0"/>
                        <a:t>Many detection methods lack the ability to capture both spatial and temporal features in manipulated videos. A hybrid deep learning model is needed for improved accuracy.</a:t>
                      </a:r>
                      <a:endParaRPr sz="1200" dirty="0">
                        <a:latin typeface="Times New Roman" panose="02020603050405020304" pitchFamily="18" charset="0"/>
                        <a:cs typeface="Times New Roman" panose="02020603050405020304" pitchFamily="18" charset="0"/>
                      </a:endParaRPr>
                    </a:p>
                  </a:txBody>
                  <a:tcPr marL="0" marR="0" marT="7937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123825">
                        <a:lnSpc>
                          <a:spcPct val="100000"/>
                        </a:lnSpc>
                        <a:spcBef>
                          <a:spcPts val="625"/>
                        </a:spcBef>
                      </a:pPr>
                      <a:r>
                        <a:rPr lang="en-US" sz="1200" b="0" i="0" kern="1200">
                          <a:solidFill>
                            <a:schemeClr val="tx1"/>
                          </a:solidFill>
                          <a:effectLst/>
                          <a:latin typeface="Times New Roman" panose="02020603050405020304" pitchFamily="18" charset="0"/>
                          <a:ea typeface="+mn-ea"/>
                          <a:cs typeface="Times New Roman" panose="02020603050405020304" pitchFamily="18" charset="0"/>
                        </a:rPr>
                        <a:t> </a:t>
                      </a:r>
                      <a:r>
                        <a:rPr lang="en-US" sz="1200"/>
                        <a:t>Developed a </a:t>
                      </a:r>
                      <a:r>
                        <a:rPr lang="en-US" sz="1200" b="1"/>
                        <a:t>CNN-LSTM model</a:t>
                      </a:r>
                      <a:r>
                        <a:rPr lang="en-US" sz="1200"/>
                        <a:t> that combines spatial feature extraction (CNN) with temporal pattern recognition (LSTM) to detect deepfake videos.</a:t>
                      </a:r>
                      <a:endParaRPr sz="1200" dirty="0">
                        <a:latin typeface="Times New Roman" panose="02020603050405020304" pitchFamily="18" charset="0"/>
                        <a:cs typeface="Times New Roman" panose="02020603050405020304" pitchFamily="18" charset="0"/>
                      </a:endParaRPr>
                    </a:p>
                  </a:txBody>
                  <a:tcPr marL="0" marR="0" marT="7937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r>
                        <a:rPr lang="en-IN" sz="1200" b="1" dirty="0"/>
                        <a:t>Accuracy:</a:t>
                      </a:r>
                      <a:r>
                        <a:rPr lang="en-IN" sz="1200" dirty="0"/>
                        <a:t> 89.50%</a:t>
                      </a:r>
                    </a:p>
                    <a:p>
                      <a:r>
                        <a:rPr lang="en-IN" sz="1200" b="1" dirty="0"/>
                        <a:t>Precision:</a:t>
                      </a:r>
                      <a:r>
                        <a:rPr lang="en-IN" sz="1200" dirty="0"/>
                        <a:t> 0.81</a:t>
                      </a:r>
                    </a:p>
                    <a:p>
                      <a:r>
                        <a:rPr lang="en-IN" sz="1200" b="1" dirty="0"/>
                        <a:t>Recall:</a:t>
                      </a:r>
                      <a:r>
                        <a:rPr lang="en-IN" sz="1200" dirty="0"/>
                        <a:t> 0.79</a:t>
                      </a:r>
                    </a:p>
                    <a:p>
                      <a:r>
                        <a:rPr lang="en-IN" sz="1200" b="1" dirty="0"/>
                        <a:t>F1 Score:</a:t>
                      </a:r>
                      <a:r>
                        <a:rPr lang="en-IN" sz="1200" dirty="0"/>
                        <a:t> 0.80</a:t>
                      </a:r>
                    </a:p>
                    <a:p>
                      <a:pPr marL="85725" marR="217804">
                        <a:lnSpc>
                          <a:spcPct val="100000"/>
                        </a:lnSpc>
                        <a:spcBef>
                          <a:spcPts val="625"/>
                        </a:spcBef>
                      </a:pPr>
                      <a:r>
                        <a:rPr lang="en-US" sz="1200" dirty="0">
                          <a:latin typeface="Times New Roman"/>
                          <a:cs typeface="Times New Roman"/>
                        </a:rPr>
                        <a:t> </a:t>
                      </a:r>
                    </a:p>
                  </a:txBody>
                  <a:tcPr marL="0" marR="0" marT="7937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803446363"/>
                  </a:ext>
                </a:extLst>
              </a:tr>
            </a:tbl>
          </a:graphicData>
        </a:graphic>
      </p:graphicFrame>
      <p:sp>
        <p:nvSpPr>
          <p:cNvPr id="6" name="TextBox 5">
            <a:extLst>
              <a:ext uri="{FF2B5EF4-FFF2-40B4-BE49-F238E27FC236}">
                <a16:creationId xmlns:a16="http://schemas.microsoft.com/office/drawing/2014/main" id="{75D896EE-F6F4-E58A-B42A-5A2EBA5C56D9}"/>
              </a:ext>
            </a:extLst>
          </p:cNvPr>
          <p:cNvSpPr txBox="1"/>
          <p:nvPr/>
        </p:nvSpPr>
        <p:spPr>
          <a:xfrm>
            <a:off x="4332618" y="222065"/>
            <a:ext cx="6094562" cy="707886"/>
          </a:xfrm>
          <a:prstGeom prst="rect">
            <a:avLst/>
          </a:prstGeom>
          <a:noFill/>
        </p:spPr>
        <p:txBody>
          <a:bodyPr wrap="square">
            <a:spAutoFit/>
          </a:bodyPr>
          <a:lstStyle/>
          <a:p>
            <a:r>
              <a:rPr lang="en-IN" sz="4000" dirty="0">
                <a:latin typeface="Times New Roman" panose="02020603050405020304" pitchFamily="18" charset="0"/>
                <a:cs typeface="Times New Roman" panose="02020603050405020304" pitchFamily="18" charset="0"/>
              </a:rPr>
              <a:t>Literature Survey</a:t>
            </a:r>
            <a:endParaRPr lang="en-IN" sz="4000" dirty="0"/>
          </a:p>
        </p:txBody>
      </p:sp>
    </p:spTree>
    <p:extLst>
      <p:ext uri="{BB962C8B-B14F-4D97-AF65-F5344CB8AC3E}">
        <p14:creationId xmlns:p14="http://schemas.microsoft.com/office/powerpoint/2010/main" val="2926124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E5B2A-2A23-D544-2BA1-AC9248F1793E}"/>
              </a:ext>
            </a:extLst>
          </p:cNvPr>
          <p:cNvSpPr>
            <a:spLocks noGrp="1"/>
          </p:cNvSpPr>
          <p:nvPr>
            <p:ph type="title"/>
          </p:nvPr>
        </p:nvSpPr>
        <p:spPr/>
        <p:txBody>
          <a:bodyPr>
            <a:normAutofit/>
          </a:bodyPr>
          <a:lstStyle/>
          <a:p>
            <a:pPr algn="ctr"/>
            <a:r>
              <a:rPr lang="en-IN" altLang="en-US" sz="4000" dirty="0">
                <a:latin typeface="Times New Roman" panose="02020603050405020304" pitchFamily="18" charset="0"/>
                <a:ea typeface="Calibri" panose="020F0502020204030204" pitchFamily="34" charset="0"/>
                <a:cs typeface="Times New Roman" panose="02020603050405020304" pitchFamily="18" charset="0"/>
                <a:sym typeface="+mn-ea"/>
              </a:rPr>
              <a:t>Existing Work</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BE61737-DCA8-C4A1-11DC-46914A4B568C}"/>
              </a:ext>
            </a:extLst>
          </p:cNvPr>
          <p:cNvSpPr>
            <a:spLocks noGrp="1"/>
          </p:cNvSpPr>
          <p:nvPr>
            <p:ph idx="1"/>
          </p:nvPr>
        </p:nvSpPr>
        <p:spPr/>
        <p:txBody>
          <a:bodyPr>
            <a:normAutofit/>
          </a:bodyPr>
          <a:lstStyle/>
          <a:p>
            <a:pPr marL="0" marR="5080" indent="0" algn="just">
              <a:lnSpc>
                <a:spcPct val="150000"/>
              </a:lnSpc>
              <a:spcBef>
                <a:spcPts val="100"/>
              </a:spcBef>
              <a:buNone/>
            </a:pPr>
            <a:r>
              <a:rPr lang="en-US" sz="2000" spc="-5" dirty="0">
                <a:latin typeface="Times New Roman" panose="02020603050405020304" pitchFamily="18" charset="0"/>
                <a:cs typeface="Times New Roman" panose="02020603050405020304" pitchFamily="18" charset="0"/>
              </a:rPr>
              <a:t> The paper proposes a deepfake detection model using Adaptive Gaining Sharing Knowledge (AGSK) algorithm with DenseNet121 to enhance feature extraction and classification. CapsuleNet is used to capture spatial relationships in images, while AGSK optimizes hyperparameters for better detection performance. The model processes images by removing noise, extracting key features, and classifying them as real or fake using a hierarchical DenseNet121 structure. The approach leverages deep learning and optimization to improve detection efficiency while reducing computational overhead.</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4562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41870-A356-9899-3CD8-159155B18B17}"/>
              </a:ext>
            </a:extLst>
          </p:cNvPr>
          <p:cNvSpPr>
            <a:spLocks noGrp="1"/>
          </p:cNvSpPr>
          <p:nvPr>
            <p:ph type="title"/>
          </p:nvPr>
        </p:nvSpPr>
        <p:spPr/>
        <p:txBody>
          <a:bodyPr>
            <a:normAutofit/>
          </a:bodyPr>
          <a:lstStyle/>
          <a:p>
            <a:pPr algn="ctr"/>
            <a:r>
              <a:rPr lang="en-US" sz="4000" dirty="0">
                <a:latin typeface="Times New Roman" panose="02020603050405020304" pitchFamily="18" charset="0"/>
                <a:ea typeface="Calibri" panose="020F0502020204030204" pitchFamily="34" charset="0"/>
                <a:cs typeface="Times New Roman" panose="02020603050405020304" pitchFamily="18" charset="0"/>
                <a:sym typeface="+mn-ea"/>
              </a:rPr>
              <a:t>Proposed </a:t>
            </a:r>
            <a:r>
              <a:rPr lang="en-IN" altLang="en-US" sz="4000" dirty="0">
                <a:latin typeface="Times New Roman" panose="02020603050405020304" pitchFamily="18" charset="0"/>
                <a:ea typeface="Calibri" panose="020F0502020204030204" pitchFamily="34" charset="0"/>
                <a:cs typeface="Times New Roman" panose="02020603050405020304" pitchFamily="18" charset="0"/>
                <a:sym typeface="+mn-ea"/>
              </a:rPr>
              <a:t>Work</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1E5D9B-A426-3632-5824-87F08365355C}"/>
              </a:ext>
            </a:extLst>
          </p:cNvPr>
          <p:cNvSpPr>
            <a:spLocks noGrp="1"/>
          </p:cNvSpPr>
          <p:nvPr>
            <p:ph idx="1"/>
          </p:nvPr>
        </p:nvSpPr>
        <p:spPr>
          <a:xfrm>
            <a:off x="838200" y="2016579"/>
            <a:ext cx="10515600" cy="4160384"/>
          </a:xfrm>
        </p:spPr>
        <p:txBody>
          <a:bodyPr>
            <a:normAutofit/>
          </a:bodyPr>
          <a:lstStyle/>
          <a:p>
            <a:pPr marL="102870" indent="0">
              <a:lnSpc>
                <a:spcPct val="100000"/>
              </a:lnSpc>
              <a:spcBef>
                <a:spcPts val="1525"/>
              </a:spcBef>
              <a:buNone/>
              <a:tabLst>
                <a:tab pos="469265" algn="l"/>
                <a:tab pos="469900" algn="l"/>
              </a:tabLst>
            </a:pPr>
            <a:r>
              <a:rPr lang="en-US" sz="2000" b="1" spc="-5" dirty="0">
                <a:latin typeface="Times New Roman"/>
                <a:cs typeface="Times New Roman"/>
              </a:rPr>
              <a:t> AGSK+EFFICIENT_B6 Approach</a:t>
            </a:r>
          </a:p>
          <a:p>
            <a:pPr marL="102870" indent="0" algn="just">
              <a:lnSpc>
                <a:spcPct val="150000"/>
              </a:lnSpc>
              <a:spcBef>
                <a:spcPts val="1525"/>
              </a:spcBef>
              <a:buNone/>
              <a:tabLst>
                <a:tab pos="469265" algn="l"/>
                <a:tab pos="469900" algn="l"/>
              </a:tabLst>
            </a:pPr>
            <a:r>
              <a:rPr lang="en-US" sz="2000" spc="-5" dirty="0">
                <a:latin typeface="Times New Roman"/>
                <a:cs typeface="Times New Roman"/>
              </a:rPr>
              <a:t>The proposed work introduces a deepfake detection model using the Adaptive Gaining Sharing Knowledge (AGSK) algorithm with EfficientNet-B6 to enhance feature extraction and classification. CapsuleNet is employed to capture spatial relationships in images, while AGSK optimizes hyperparameters for improved detection performance. The model processes images by removing noise, extracting key features, and classifying them as real or fake using the hierarchical structure of EfficientNet-B6. This approach leverages deep learning and optimization techniques to enhance detection efficiency while minimizing computational overhead, achieving 96% accuracy.</a:t>
            </a:r>
          </a:p>
        </p:txBody>
      </p:sp>
    </p:spTree>
    <p:extLst>
      <p:ext uri="{BB962C8B-B14F-4D97-AF65-F5344CB8AC3E}">
        <p14:creationId xmlns:p14="http://schemas.microsoft.com/office/powerpoint/2010/main" val="1472389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C0A84C-95EC-F29F-8DDF-AC52D78D0334}"/>
              </a:ext>
            </a:extLst>
          </p:cNvPr>
          <p:cNvSpPr txBox="1"/>
          <p:nvPr/>
        </p:nvSpPr>
        <p:spPr>
          <a:xfrm>
            <a:off x="2012024" y="109323"/>
            <a:ext cx="8167951" cy="707886"/>
          </a:xfrm>
          <a:prstGeom prst="rect">
            <a:avLst/>
          </a:prstGeom>
          <a:noFill/>
        </p:spPr>
        <p:txBody>
          <a:bodyPr wrap="square" rtlCol="0">
            <a:spAutoFit/>
          </a:bodyPr>
          <a:lstStyle/>
          <a:p>
            <a:r>
              <a:rPr lang="en-IN" sz="4000" dirty="0">
                <a:latin typeface="Times New Roman" panose="02020603050405020304" pitchFamily="18" charset="0"/>
                <a:cs typeface="Times New Roman" panose="02020603050405020304" pitchFamily="18" charset="0"/>
              </a:rPr>
              <a:t>Block Diagram for </a:t>
            </a:r>
            <a:r>
              <a:rPr lang="en-IN" altLang="en-US" sz="4000" dirty="0">
                <a:latin typeface="Times New Roman" panose="02020603050405020304" pitchFamily="18" charset="0"/>
                <a:ea typeface="Calibri" panose="020F0502020204030204" pitchFamily="34" charset="0"/>
                <a:cs typeface="Times New Roman" panose="02020603050405020304" pitchFamily="18" charset="0"/>
              </a:rPr>
              <a:t>Densenet121+Agsk</a:t>
            </a:r>
            <a:endParaRPr lang="en-IN"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8B717E4-C56F-33D1-BF15-24C2774CF622}"/>
              </a:ext>
            </a:extLst>
          </p:cNvPr>
          <p:cNvPicPr>
            <a:picLocks noChangeAspect="1"/>
          </p:cNvPicPr>
          <p:nvPr/>
        </p:nvPicPr>
        <p:blipFill>
          <a:blip r:embed="rId2"/>
          <a:stretch>
            <a:fillRect/>
          </a:stretch>
        </p:blipFill>
        <p:spPr>
          <a:xfrm>
            <a:off x="3554083" y="817209"/>
            <a:ext cx="4675517" cy="5931468"/>
          </a:xfrm>
          <a:prstGeom prst="rect">
            <a:avLst/>
          </a:prstGeom>
        </p:spPr>
      </p:pic>
    </p:spTree>
    <p:extLst>
      <p:ext uri="{BB962C8B-B14F-4D97-AF65-F5344CB8AC3E}">
        <p14:creationId xmlns:p14="http://schemas.microsoft.com/office/powerpoint/2010/main" val="1442471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B1BE-BAC1-8817-998E-C01315E5EC87}"/>
              </a:ext>
            </a:extLst>
          </p:cNvPr>
          <p:cNvSpPr>
            <a:spLocks noGrp="1"/>
          </p:cNvSpPr>
          <p:nvPr>
            <p:ph type="title"/>
          </p:nvPr>
        </p:nvSpPr>
        <p:spPr>
          <a:xfrm>
            <a:off x="1526875" y="276054"/>
            <a:ext cx="8514272" cy="844490"/>
          </a:xfrm>
        </p:spPr>
        <p:txBody>
          <a:bodyPr>
            <a:normAutofit/>
          </a:bodyPr>
          <a:lstStyle/>
          <a:p>
            <a:r>
              <a:rPr lang="en-US" sz="4000" dirty="0">
                <a:latin typeface="Times New Roman" panose="02020603050405020304" pitchFamily="18" charset="0"/>
                <a:cs typeface="Times New Roman" panose="02020603050405020304" pitchFamily="18" charset="0"/>
              </a:rPr>
              <a:t>   Results for AGSK+DENSENET121</a:t>
            </a:r>
          </a:p>
        </p:txBody>
      </p:sp>
      <p:graphicFrame>
        <p:nvGraphicFramePr>
          <p:cNvPr id="4" name="Table 3">
            <a:extLst>
              <a:ext uri="{FF2B5EF4-FFF2-40B4-BE49-F238E27FC236}">
                <a16:creationId xmlns:a16="http://schemas.microsoft.com/office/drawing/2014/main" id="{B18ED392-6C88-4C46-9137-B2FB467FBA4E}"/>
              </a:ext>
            </a:extLst>
          </p:cNvPr>
          <p:cNvGraphicFramePr>
            <a:graphicFrameLocks noGrp="1"/>
          </p:cNvGraphicFramePr>
          <p:nvPr>
            <p:extLst>
              <p:ext uri="{D42A27DB-BD31-4B8C-83A1-F6EECF244321}">
                <p14:modId xmlns:p14="http://schemas.microsoft.com/office/powerpoint/2010/main" val="3836196660"/>
              </p:ext>
            </p:extLst>
          </p:nvPr>
        </p:nvGraphicFramePr>
        <p:xfrm>
          <a:off x="1975449" y="2229288"/>
          <a:ext cx="8003396" cy="2929305"/>
        </p:xfrm>
        <a:graphic>
          <a:graphicData uri="http://schemas.openxmlformats.org/drawingml/2006/table">
            <a:tbl>
              <a:tblPr firstRow="1" bandRow="1">
                <a:tableStyleId>{5C22544A-7EE6-4342-B048-85BDC9FD1C3A}</a:tableStyleId>
              </a:tblPr>
              <a:tblGrid>
                <a:gridCol w="4001698">
                  <a:extLst>
                    <a:ext uri="{9D8B030D-6E8A-4147-A177-3AD203B41FA5}">
                      <a16:colId xmlns:a16="http://schemas.microsoft.com/office/drawing/2014/main" val="1044074613"/>
                    </a:ext>
                  </a:extLst>
                </a:gridCol>
                <a:gridCol w="4001698">
                  <a:extLst>
                    <a:ext uri="{9D8B030D-6E8A-4147-A177-3AD203B41FA5}">
                      <a16:colId xmlns:a16="http://schemas.microsoft.com/office/drawing/2014/main" val="20519918"/>
                    </a:ext>
                  </a:extLst>
                </a:gridCol>
              </a:tblGrid>
              <a:tr h="585861">
                <a:tc>
                  <a:txBody>
                    <a:bodyPr/>
                    <a:lstStyle/>
                    <a:p>
                      <a:pPr algn="ctr"/>
                      <a:r>
                        <a:rPr lang="en-US" dirty="0">
                          <a:latin typeface="Times New Roman" panose="02020603050405020304" pitchFamily="18" charset="0"/>
                          <a:cs typeface="Times New Roman" panose="02020603050405020304" pitchFamily="18" charset="0"/>
                        </a:rPr>
                        <a:t>Parameters</a:t>
                      </a:r>
                    </a:p>
                  </a:txBody>
                  <a:tcPr/>
                </a:tc>
                <a:tc>
                  <a:txBody>
                    <a:bodyPr/>
                    <a:lstStyle/>
                    <a:p>
                      <a:pPr algn="ctr"/>
                      <a:r>
                        <a:rPr lang="en-US" dirty="0">
                          <a:latin typeface="Times New Roman" panose="02020603050405020304" pitchFamily="18" charset="0"/>
                          <a:cs typeface="Times New Roman" panose="02020603050405020304" pitchFamily="18" charset="0"/>
                        </a:rPr>
                        <a:t>Values</a:t>
                      </a:r>
                    </a:p>
                  </a:txBody>
                  <a:tcPr/>
                </a:tc>
                <a:extLst>
                  <a:ext uri="{0D108BD9-81ED-4DB2-BD59-A6C34878D82A}">
                    <a16:rowId xmlns:a16="http://schemas.microsoft.com/office/drawing/2014/main" val="149856303"/>
                  </a:ext>
                </a:extLst>
              </a:tr>
              <a:tr h="585861">
                <a:tc>
                  <a:txBody>
                    <a:bodyPr/>
                    <a:lstStyle/>
                    <a:p>
                      <a:pPr algn="ctr"/>
                      <a:r>
                        <a:rPr lang="en-US" dirty="0">
                          <a:latin typeface="Times New Roman" panose="02020603050405020304" pitchFamily="18" charset="0"/>
                          <a:cs typeface="Times New Roman" panose="02020603050405020304" pitchFamily="18" charset="0"/>
                        </a:rPr>
                        <a:t>Accuracy</a:t>
                      </a:r>
                    </a:p>
                  </a:txBody>
                  <a:tcPr/>
                </a:tc>
                <a:tc>
                  <a:txBody>
                    <a:bodyPr/>
                    <a:lstStyle/>
                    <a:p>
                      <a:pPr algn="ctr"/>
                      <a:r>
                        <a:rPr lang="en-US" dirty="0">
                          <a:latin typeface="Times New Roman" panose="02020603050405020304" pitchFamily="18" charset="0"/>
                          <a:cs typeface="Times New Roman" panose="02020603050405020304" pitchFamily="18" charset="0"/>
                        </a:rPr>
                        <a:t>93%</a:t>
                      </a:r>
                    </a:p>
                  </a:txBody>
                  <a:tcPr/>
                </a:tc>
                <a:extLst>
                  <a:ext uri="{0D108BD9-81ED-4DB2-BD59-A6C34878D82A}">
                    <a16:rowId xmlns:a16="http://schemas.microsoft.com/office/drawing/2014/main" val="4112957588"/>
                  </a:ext>
                </a:extLst>
              </a:tr>
              <a:tr h="585861">
                <a:tc>
                  <a:txBody>
                    <a:bodyPr/>
                    <a:lstStyle/>
                    <a:p>
                      <a:pPr algn="ctr"/>
                      <a:r>
                        <a:rPr lang="en-US" dirty="0">
                          <a:latin typeface="Times New Roman" panose="02020603050405020304" pitchFamily="18" charset="0"/>
                          <a:cs typeface="Times New Roman" panose="02020603050405020304" pitchFamily="18" charset="0"/>
                        </a:rPr>
                        <a:t>Precision</a:t>
                      </a:r>
                    </a:p>
                  </a:txBody>
                  <a:tcPr/>
                </a:tc>
                <a:tc>
                  <a:txBody>
                    <a:bodyPr/>
                    <a:lstStyle/>
                    <a:p>
                      <a:pPr algn="ctr"/>
                      <a:r>
                        <a:rPr lang="en-US" dirty="0">
                          <a:latin typeface="Times New Roman" panose="02020603050405020304" pitchFamily="18" charset="0"/>
                          <a:cs typeface="Times New Roman" panose="02020603050405020304" pitchFamily="18" charset="0"/>
                        </a:rPr>
                        <a:t>0.85</a:t>
                      </a:r>
                    </a:p>
                  </a:txBody>
                  <a:tcPr/>
                </a:tc>
                <a:extLst>
                  <a:ext uri="{0D108BD9-81ED-4DB2-BD59-A6C34878D82A}">
                    <a16:rowId xmlns:a16="http://schemas.microsoft.com/office/drawing/2014/main" val="3240976233"/>
                  </a:ext>
                </a:extLst>
              </a:tr>
              <a:tr h="585861">
                <a:tc>
                  <a:txBody>
                    <a:bodyPr/>
                    <a:lstStyle/>
                    <a:p>
                      <a:pPr algn="ctr"/>
                      <a:r>
                        <a:rPr lang="en-US" dirty="0">
                          <a:latin typeface="Times New Roman" panose="02020603050405020304" pitchFamily="18" charset="0"/>
                          <a:cs typeface="Times New Roman" panose="02020603050405020304" pitchFamily="18" charset="0"/>
                        </a:rPr>
                        <a:t>Recall</a:t>
                      </a:r>
                    </a:p>
                  </a:txBody>
                  <a:tcPr/>
                </a:tc>
                <a:tc>
                  <a:txBody>
                    <a:bodyPr/>
                    <a:lstStyle/>
                    <a:p>
                      <a:pPr algn="ctr"/>
                      <a:r>
                        <a:rPr lang="en-US" dirty="0">
                          <a:latin typeface="Times New Roman" panose="02020603050405020304" pitchFamily="18" charset="0"/>
                          <a:cs typeface="Times New Roman" panose="02020603050405020304" pitchFamily="18" charset="0"/>
                        </a:rPr>
                        <a:t>0.92</a:t>
                      </a:r>
                    </a:p>
                  </a:txBody>
                  <a:tcPr/>
                </a:tc>
                <a:extLst>
                  <a:ext uri="{0D108BD9-81ED-4DB2-BD59-A6C34878D82A}">
                    <a16:rowId xmlns:a16="http://schemas.microsoft.com/office/drawing/2014/main" val="4192770542"/>
                  </a:ext>
                </a:extLst>
              </a:tr>
              <a:tr h="585861">
                <a:tc>
                  <a:txBody>
                    <a:bodyPr/>
                    <a:lstStyle/>
                    <a:p>
                      <a:pPr algn="ctr"/>
                      <a:r>
                        <a:rPr lang="en-US" dirty="0">
                          <a:latin typeface="Times New Roman" panose="02020603050405020304" pitchFamily="18" charset="0"/>
                          <a:cs typeface="Times New Roman" panose="02020603050405020304" pitchFamily="18" charset="0"/>
                        </a:rPr>
                        <a:t>F1 Score</a:t>
                      </a:r>
                    </a:p>
                  </a:txBody>
                  <a:tcPr/>
                </a:tc>
                <a:tc>
                  <a:txBody>
                    <a:bodyPr/>
                    <a:lstStyle/>
                    <a:p>
                      <a:pPr algn="ctr"/>
                      <a:r>
                        <a:rPr lang="en-US" dirty="0">
                          <a:latin typeface="Times New Roman" panose="02020603050405020304" pitchFamily="18" charset="0"/>
                          <a:cs typeface="Times New Roman" panose="02020603050405020304" pitchFamily="18" charset="0"/>
                        </a:rPr>
                        <a:t>0.88</a:t>
                      </a:r>
                    </a:p>
                  </a:txBody>
                  <a:tcPr/>
                </a:tc>
                <a:extLst>
                  <a:ext uri="{0D108BD9-81ED-4DB2-BD59-A6C34878D82A}">
                    <a16:rowId xmlns:a16="http://schemas.microsoft.com/office/drawing/2014/main" val="2984519163"/>
                  </a:ext>
                </a:extLst>
              </a:tr>
            </a:tbl>
          </a:graphicData>
        </a:graphic>
      </p:graphicFrame>
    </p:spTree>
    <p:extLst>
      <p:ext uri="{BB962C8B-B14F-4D97-AF65-F5344CB8AC3E}">
        <p14:creationId xmlns:p14="http://schemas.microsoft.com/office/powerpoint/2010/main" val="1766749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9BDBC-5C18-B636-A54D-C7170C6E1BB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Architecture For Proposed work</a:t>
            </a:r>
          </a:p>
        </p:txBody>
      </p:sp>
      <p:pic>
        <p:nvPicPr>
          <p:cNvPr id="5" name="Content Placeholder 4">
            <a:extLst>
              <a:ext uri="{FF2B5EF4-FFF2-40B4-BE49-F238E27FC236}">
                <a16:creationId xmlns:a16="http://schemas.microsoft.com/office/drawing/2014/main" id="{427FA4ED-EA0E-F53B-7E18-3DA3904BA2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5336" y="1825625"/>
            <a:ext cx="9411419" cy="4351338"/>
          </a:xfrm>
        </p:spPr>
      </p:pic>
    </p:spTree>
    <p:extLst>
      <p:ext uri="{BB962C8B-B14F-4D97-AF65-F5344CB8AC3E}">
        <p14:creationId xmlns:p14="http://schemas.microsoft.com/office/powerpoint/2010/main" val="2468348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B1BE-BAC1-8817-998E-C01315E5EC87}"/>
              </a:ext>
            </a:extLst>
          </p:cNvPr>
          <p:cNvSpPr>
            <a:spLocks noGrp="1"/>
          </p:cNvSpPr>
          <p:nvPr>
            <p:ph type="title"/>
          </p:nvPr>
        </p:nvSpPr>
        <p:spPr>
          <a:xfrm>
            <a:off x="2570672" y="301933"/>
            <a:ext cx="7047781" cy="844490"/>
          </a:xfrm>
        </p:spPr>
        <p:txBody>
          <a:bodyPr>
            <a:normAutofit fontScale="90000"/>
          </a:bodyPr>
          <a:lstStyle/>
          <a:p>
            <a:r>
              <a:rPr lang="en-US" sz="4000" dirty="0">
                <a:latin typeface="Times New Roman" panose="02020603050405020304" pitchFamily="18" charset="0"/>
                <a:cs typeface="Times New Roman" panose="02020603050405020304" pitchFamily="18" charset="0"/>
              </a:rPr>
              <a:t>   Results for AGSK+EFFICIENT-B6</a:t>
            </a:r>
          </a:p>
        </p:txBody>
      </p:sp>
      <p:graphicFrame>
        <p:nvGraphicFramePr>
          <p:cNvPr id="4" name="Table 3">
            <a:extLst>
              <a:ext uri="{FF2B5EF4-FFF2-40B4-BE49-F238E27FC236}">
                <a16:creationId xmlns:a16="http://schemas.microsoft.com/office/drawing/2014/main" id="{B18ED392-6C88-4C46-9137-B2FB467FBA4E}"/>
              </a:ext>
            </a:extLst>
          </p:cNvPr>
          <p:cNvGraphicFramePr>
            <a:graphicFrameLocks noGrp="1"/>
          </p:cNvGraphicFramePr>
          <p:nvPr>
            <p:extLst>
              <p:ext uri="{D42A27DB-BD31-4B8C-83A1-F6EECF244321}">
                <p14:modId xmlns:p14="http://schemas.microsoft.com/office/powerpoint/2010/main" val="714030662"/>
              </p:ext>
            </p:extLst>
          </p:nvPr>
        </p:nvGraphicFramePr>
        <p:xfrm>
          <a:off x="1975449" y="2229288"/>
          <a:ext cx="8003396" cy="2929305"/>
        </p:xfrm>
        <a:graphic>
          <a:graphicData uri="http://schemas.openxmlformats.org/drawingml/2006/table">
            <a:tbl>
              <a:tblPr firstRow="1" bandRow="1">
                <a:tableStyleId>{5C22544A-7EE6-4342-B048-85BDC9FD1C3A}</a:tableStyleId>
              </a:tblPr>
              <a:tblGrid>
                <a:gridCol w="4001698">
                  <a:extLst>
                    <a:ext uri="{9D8B030D-6E8A-4147-A177-3AD203B41FA5}">
                      <a16:colId xmlns:a16="http://schemas.microsoft.com/office/drawing/2014/main" val="1044074613"/>
                    </a:ext>
                  </a:extLst>
                </a:gridCol>
                <a:gridCol w="4001698">
                  <a:extLst>
                    <a:ext uri="{9D8B030D-6E8A-4147-A177-3AD203B41FA5}">
                      <a16:colId xmlns:a16="http://schemas.microsoft.com/office/drawing/2014/main" val="20519918"/>
                    </a:ext>
                  </a:extLst>
                </a:gridCol>
              </a:tblGrid>
              <a:tr h="585861">
                <a:tc>
                  <a:txBody>
                    <a:bodyPr/>
                    <a:lstStyle/>
                    <a:p>
                      <a:pPr algn="ctr"/>
                      <a:r>
                        <a:rPr lang="en-US" dirty="0">
                          <a:latin typeface="Times New Roman" panose="02020603050405020304" pitchFamily="18" charset="0"/>
                          <a:cs typeface="Times New Roman" panose="02020603050405020304" pitchFamily="18" charset="0"/>
                        </a:rPr>
                        <a:t>Parameters</a:t>
                      </a:r>
                    </a:p>
                  </a:txBody>
                  <a:tcPr/>
                </a:tc>
                <a:tc>
                  <a:txBody>
                    <a:bodyPr/>
                    <a:lstStyle/>
                    <a:p>
                      <a:pPr algn="ctr"/>
                      <a:r>
                        <a:rPr lang="en-US" dirty="0">
                          <a:latin typeface="Times New Roman" panose="02020603050405020304" pitchFamily="18" charset="0"/>
                          <a:cs typeface="Times New Roman" panose="02020603050405020304" pitchFamily="18" charset="0"/>
                        </a:rPr>
                        <a:t>Values</a:t>
                      </a:r>
                    </a:p>
                  </a:txBody>
                  <a:tcPr/>
                </a:tc>
                <a:extLst>
                  <a:ext uri="{0D108BD9-81ED-4DB2-BD59-A6C34878D82A}">
                    <a16:rowId xmlns:a16="http://schemas.microsoft.com/office/drawing/2014/main" val="149856303"/>
                  </a:ext>
                </a:extLst>
              </a:tr>
              <a:tr h="585861">
                <a:tc>
                  <a:txBody>
                    <a:bodyPr/>
                    <a:lstStyle/>
                    <a:p>
                      <a:pPr algn="ctr"/>
                      <a:r>
                        <a:rPr lang="en-US" dirty="0">
                          <a:latin typeface="Times New Roman" panose="02020603050405020304" pitchFamily="18" charset="0"/>
                          <a:cs typeface="Times New Roman" panose="02020603050405020304" pitchFamily="18" charset="0"/>
                        </a:rPr>
                        <a:t>Accuracy</a:t>
                      </a:r>
                    </a:p>
                  </a:txBody>
                  <a:tcPr/>
                </a:tc>
                <a:tc>
                  <a:txBody>
                    <a:bodyPr/>
                    <a:lstStyle/>
                    <a:p>
                      <a:pPr algn="ctr"/>
                      <a:r>
                        <a:rPr lang="en-US" dirty="0">
                          <a:latin typeface="Times New Roman" panose="02020603050405020304" pitchFamily="18" charset="0"/>
                          <a:cs typeface="Times New Roman" panose="02020603050405020304" pitchFamily="18" charset="0"/>
                        </a:rPr>
                        <a:t>96.58%</a:t>
                      </a:r>
                    </a:p>
                  </a:txBody>
                  <a:tcPr/>
                </a:tc>
                <a:extLst>
                  <a:ext uri="{0D108BD9-81ED-4DB2-BD59-A6C34878D82A}">
                    <a16:rowId xmlns:a16="http://schemas.microsoft.com/office/drawing/2014/main" val="4112957588"/>
                  </a:ext>
                </a:extLst>
              </a:tr>
              <a:tr h="585861">
                <a:tc>
                  <a:txBody>
                    <a:bodyPr/>
                    <a:lstStyle/>
                    <a:p>
                      <a:pPr algn="ctr"/>
                      <a:r>
                        <a:rPr lang="en-US" dirty="0">
                          <a:latin typeface="Times New Roman" panose="02020603050405020304" pitchFamily="18" charset="0"/>
                          <a:cs typeface="Times New Roman" panose="02020603050405020304" pitchFamily="18" charset="0"/>
                        </a:rPr>
                        <a:t>Precision</a:t>
                      </a:r>
                    </a:p>
                  </a:txBody>
                  <a:tcPr/>
                </a:tc>
                <a:tc>
                  <a:txBody>
                    <a:bodyPr/>
                    <a:lstStyle/>
                    <a:p>
                      <a:pPr algn="ctr"/>
                      <a:r>
                        <a:rPr lang="en-US" dirty="0">
                          <a:latin typeface="Times New Roman" panose="02020603050405020304" pitchFamily="18" charset="0"/>
                          <a:cs typeface="Times New Roman" panose="02020603050405020304" pitchFamily="18" charset="0"/>
                        </a:rPr>
                        <a:t>0.96</a:t>
                      </a:r>
                    </a:p>
                  </a:txBody>
                  <a:tcPr/>
                </a:tc>
                <a:extLst>
                  <a:ext uri="{0D108BD9-81ED-4DB2-BD59-A6C34878D82A}">
                    <a16:rowId xmlns:a16="http://schemas.microsoft.com/office/drawing/2014/main" val="3240976233"/>
                  </a:ext>
                </a:extLst>
              </a:tr>
              <a:tr h="585861">
                <a:tc>
                  <a:txBody>
                    <a:bodyPr/>
                    <a:lstStyle/>
                    <a:p>
                      <a:pPr algn="ctr"/>
                      <a:r>
                        <a:rPr lang="en-US" dirty="0">
                          <a:latin typeface="Times New Roman" panose="02020603050405020304" pitchFamily="18" charset="0"/>
                          <a:cs typeface="Times New Roman" panose="02020603050405020304" pitchFamily="18" charset="0"/>
                        </a:rPr>
                        <a:t>Recall</a:t>
                      </a:r>
                    </a:p>
                  </a:txBody>
                  <a:tcPr/>
                </a:tc>
                <a:tc>
                  <a:txBody>
                    <a:bodyPr/>
                    <a:lstStyle/>
                    <a:p>
                      <a:pPr algn="ctr"/>
                      <a:r>
                        <a:rPr lang="en-US" dirty="0">
                          <a:latin typeface="Times New Roman" panose="02020603050405020304" pitchFamily="18" charset="0"/>
                          <a:cs typeface="Times New Roman" panose="02020603050405020304" pitchFamily="18" charset="0"/>
                        </a:rPr>
                        <a:t>0.95</a:t>
                      </a:r>
                    </a:p>
                  </a:txBody>
                  <a:tcPr/>
                </a:tc>
                <a:extLst>
                  <a:ext uri="{0D108BD9-81ED-4DB2-BD59-A6C34878D82A}">
                    <a16:rowId xmlns:a16="http://schemas.microsoft.com/office/drawing/2014/main" val="4192770542"/>
                  </a:ext>
                </a:extLst>
              </a:tr>
              <a:tr h="585861">
                <a:tc>
                  <a:txBody>
                    <a:bodyPr/>
                    <a:lstStyle/>
                    <a:p>
                      <a:pPr algn="ctr"/>
                      <a:r>
                        <a:rPr lang="en-US" dirty="0">
                          <a:latin typeface="Times New Roman" panose="02020603050405020304" pitchFamily="18" charset="0"/>
                          <a:cs typeface="Times New Roman" panose="02020603050405020304" pitchFamily="18" charset="0"/>
                        </a:rPr>
                        <a:t>F1 Score</a:t>
                      </a:r>
                    </a:p>
                  </a:txBody>
                  <a:tcPr/>
                </a:tc>
                <a:tc>
                  <a:txBody>
                    <a:bodyPr/>
                    <a:lstStyle/>
                    <a:p>
                      <a:pPr algn="ctr"/>
                      <a:r>
                        <a:rPr lang="en-US" dirty="0">
                          <a:latin typeface="Times New Roman" panose="02020603050405020304" pitchFamily="18" charset="0"/>
                          <a:cs typeface="Times New Roman" panose="02020603050405020304" pitchFamily="18" charset="0"/>
                        </a:rPr>
                        <a:t>0.96</a:t>
                      </a:r>
                    </a:p>
                  </a:txBody>
                  <a:tcPr/>
                </a:tc>
                <a:extLst>
                  <a:ext uri="{0D108BD9-81ED-4DB2-BD59-A6C34878D82A}">
                    <a16:rowId xmlns:a16="http://schemas.microsoft.com/office/drawing/2014/main" val="2984519163"/>
                  </a:ext>
                </a:extLst>
              </a:tr>
            </a:tbl>
          </a:graphicData>
        </a:graphic>
      </p:graphicFrame>
    </p:spTree>
    <p:extLst>
      <p:ext uri="{BB962C8B-B14F-4D97-AF65-F5344CB8AC3E}">
        <p14:creationId xmlns:p14="http://schemas.microsoft.com/office/powerpoint/2010/main" val="859120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55A85-6DE6-87C3-967A-DBAD540430EE}"/>
              </a:ext>
            </a:extLst>
          </p:cNvPr>
          <p:cNvSpPr>
            <a:spLocks noGrp="1"/>
          </p:cNvSpPr>
          <p:nvPr>
            <p:ph type="title"/>
          </p:nvPr>
        </p:nvSpPr>
        <p:spPr>
          <a:xfrm>
            <a:off x="462643" y="269629"/>
            <a:ext cx="10515600" cy="822813"/>
          </a:xfrm>
        </p:spPr>
        <p:txBody>
          <a:bodyPr>
            <a:normAutofit/>
          </a:bodyPr>
          <a:lstStyle/>
          <a:p>
            <a:pPr algn="ctr"/>
            <a:r>
              <a:rPr lang="en-IN" sz="4000" dirty="0">
                <a:latin typeface="Times New Roman" panose="02020603050405020304" pitchFamily="18" charset="0"/>
                <a:cs typeface="Times New Roman" panose="02020603050405020304" pitchFamily="18" charset="0"/>
              </a:rPr>
              <a:t>Dataset</a:t>
            </a:r>
          </a:p>
        </p:txBody>
      </p:sp>
      <p:sp>
        <p:nvSpPr>
          <p:cNvPr id="3" name="Content Placeholder 2">
            <a:extLst>
              <a:ext uri="{FF2B5EF4-FFF2-40B4-BE49-F238E27FC236}">
                <a16:creationId xmlns:a16="http://schemas.microsoft.com/office/drawing/2014/main" id="{2E3D0E4E-3158-8B2C-92B2-3C0E99E210E2}"/>
              </a:ext>
            </a:extLst>
          </p:cNvPr>
          <p:cNvSpPr>
            <a:spLocks noGrp="1"/>
          </p:cNvSpPr>
          <p:nvPr>
            <p:ph idx="1"/>
          </p:nvPr>
        </p:nvSpPr>
        <p:spPr>
          <a:xfrm>
            <a:off x="838200" y="1518557"/>
            <a:ext cx="10515600" cy="4658407"/>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Dataset</a:t>
            </a:r>
            <a:r>
              <a:rPr lang="en-IN" sz="2000" dirty="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1C8D2131-5F51-F7C7-0F05-65CBD50171EB}"/>
              </a:ext>
            </a:extLst>
          </p:cNvPr>
          <p:cNvPicPr>
            <a:picLocks noChangeAspect="1"/>
          </p:cNvPicPr>
          <p:nvPr/>
        </p:nvPicPr>
        <p:blipFill>
          <a:blip r:embed="rId2"/>
          <a:stretch>
            <a:fillRect/>
          </a:stretch>
        </p:blipFill>
        <p:spPr>
          <a:xfrm>
            <a:off x="2156603" y="2314574"/>
            <a:ext cx="6098875" cy="3301221"/>
          </a:xfrm>
          <a:prstGeom prst="rect">
            <a:avLst/>
          </a:prstGeom>
        </p:spPr>
      </p:pic>
    </p:spTree>
    <p:extLst>
      <p:ext uri="{BB962C8B-B14F-4D97-AF65-F5344CB8AC3E}">
        <p14:creationId xmlns:p14="http://schemas.microsoft.com/office/powerpoint/2010/main" val="606304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C1A7493-65D8-9FE4-C731-5B2F5F79BA98}"/>
              </a:ext>
            </a:extLst>
          </p:cNvPr>
          <p:cNvSpPr txBox="1"/>
          <p:nvPr/>
        </p:nvSpPr>
        <p:spPr>
          <a:xfrm>
            <a:off x="5584054" y="1340528"/>
            <a:ext cx="5387610"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t>
            </a:r>
          </a:p>
        </p:txBody>
      </p:sp>
      <p:sp>
        <p:nvSpPr>
          <p:cNvPr id="2" name="TextBox 1">
            <a:extLst>
              <a:ext uri="{FF2B5EF4-FFF2-40B4-BE49-F238E27FC236}">
                <a16:creationId xmlns:a16="http://schemas.microsoft.com/office/drawing/2014/main" id="{08E92F2A-ACA0-3056-ADE5-44031236CA67}"/>
              </a:ext>
            </a:extLst>
          </p:cNvPr>
          <p:cNvSpPr txBox="1"/>
          <p:nvPr/>
        </p:nvSpPr>
        <p:spPr>
          <a:xfrm>
            <a:off x="3342099" y="426128"/>
            <a:ext cx="5198219" cy="707886"/>
          </a:xfrm>
          <a:prstGeom prst="rect">
            <a:avLst/>
          </a:prstGeom>
          <a:noFill/>
        </p:spPr>
        <p:txBody>
          <a:bodyPr wrap="square" rtlCol="0">
            <a:spAutoFit/>
          </a:bodyPr>
          <a:lstStyle/>
          <a:p>
            <a:pPr algn="ctr"/>
            <a:r>
              <a:rPr lang="en-IN" sz="4000"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D0ACBA11-C480-8016-19F8-AD4E0CA59AF7}"/>
              </a:ext>
            </a:extLst>
          </p:cNvPr>
          <p:cNvSpPr>
            <a:spLocks noGrp="1"/>
          </p:cNvSpPr>
          <p:nvPr>
            <p:ph idx="1"/>
          </p:nvPr>
        </p:nvSpPr>
        <p:spPr>
          <a:xfrm>
            <a:off x="776377" y="1026543"/>
            <a:ext cx="10577423" cy="5503653"/>
          </a:xfrm>
        </p:spPr>
        <p:txBody>
          <a:bodyPr>
            <a:normAutofit fontScale="92500" lnSpcReduction="10000"/>
          </a:bodyPr>
          <a:lstStyle/>
          <a:p>
            <a:pPr marL="0" indent="0" algn="just">
              <a:buNone/>
            </a:pPr>
            <a:r>
              <a:rPr lang="en-US" sz="2200" dirty="0">
                <a:latin typeface="Times New Roman" panose="02020603050405020304" pitchFamily="18" charset="0"/>
                <a:cs typeface="Times New Roman" panose="02020603050405020304" pitchFamily="18" charset="0"/>
              </a:rPr>
              <a:t>1. Data Acquisition   </a:t>
            </a:r>
          </a:p>
          <a:p>
            <a:pPr marL="0" indent="0" algn="just">
              <a:buNone/>
            </a:pPr>
            <a:r>
              <a:rPr lang="en-US" sz="2200" dirty="0">
                <a:latin typeface="Times New Roman" panose="02020603050405020304" pitchFamily="18" charset="0"/>
                <a:cs typeface="Times New Roman" panose="02020603050405020304" pitchFamily="18" charset="0"/>
              </a:rPr>
              <a:t>        Extract the dataset from a ZIP file stored in Google Drive.     </a:t>
            </a:r>
          </a:p>
          <a:p>
            <a:pPr marL="0" indent="0" algn="just">
              <a:buNone/>
            </a:pPr>
            <a:r>
              <a:rPr lang="en-US" sz="2200" dirty="0">
                <a:latin typeface="Times New Roman" panose="02020603050405020304" pitchFamily="18" charset="0"/>
                <a:cs typeface="Times New Roman" panose="02020603050405020304" pitchFamily="18" charset="0"/>
              </a:rPr>
              <a:t>        Organize images into real and fake categories. </a:t>
            </a:r>
          </a:p>
          <a:p>
            <a:pPr marL="0" indent="0" algn="just">
              <a:buNone/>
            </a:pPr>
            <a:r>
              <a:rPr lang="en-US" sz="2200" dirty="0"/>
              <a:t>2</a:t>
            </a:r>
            <a:r>
              <a:rPr lang="en-US" sz="2200" dirty="0">
                <a:latin typeface="Times New Roman" panose="02020603050405020304" pitchFamily="18" charset="0"/>
                <a:cs typeface="Times New Roman" panose="02020603050405020304" pitchFamily="18" charset="0"/>
              </a:rPr>
              <a:t>. Data Preprocessing</a:t>
            </a:r>
          </a:p>
          <a:p>
            <a:pPr marL="0" indent="0" algn="just">
              <a:buNone/>
            </a:pPr>
            <a:r>
              <a:rPr lang="en-US" sz="2200" dirty="0">
                <a:latin typeface="Times New Roman" panose="02020603050405020304" pitchFamily="18" charset="0"/>
                <a:cs typeface="Times New Roman" panose="02020603050405020304" pitchFamily="18" charset="0"/>
              </a:rPr>
              <a:t>        Resize images to 256×256 for efficient computation.    </a:t>
            </a:r>
          </a:p>
          <a:p>
            <a:pPr marL="0" indent="0" algn="just">
              <a:buNone/>
            </a:pPr>
            <a:r>
              <a:rPr lang="en-US" sz="2200" dirty="0">
                <a:latin typeface="Times New Roman" panose="02020603050405020304" pitchFamily="18" charset="0"/>
                <a:cs typeface="Times New Roman" panose="02020603050405020304" pitchFamily="18" charset="0"/>
              </a:rPr>
              <a:t>        Apply random transformations (flipping, rotation, color jitter) to enhance model robustness.     </a:t>
            </a:r>
          </a:p>
          <a:p>
            <a:pPr marL="0" indent="0" algn="just">
              <a:buNone/>
            </a:pPr>
            <a:r>
              <a:rPr lang="en-US" sz="2200" dirty="0">
                <a:latin typeface="Times New Roman" panose="02020603050405020304" pitchFamily="18" charset="0"/>
                <a:cs typeface="Times New Roman" panose="02020603050405020304" pitchFamily="18" charset="0"/>
              </a:rPr>
              <a:t>        Normalize pixel values to [-1, 1] for stable training</a:t>
            </a:r>
          </a:p>
          <a:p>
            <a:pPr marL="0" indent="0" algn="just">
              <a:buNone/>
            </a:pPr>
            <a:r>
              <a:rPr lang="en-US" sz="2200" dirty="0">
                <a:latin typeface="Times New Roman" panose="02020603050405020304" pitchFamily="18" charset="0"/>
                <a:cs typeface="Times New Roman" panose="02020603050405020304" pitchFamily="18" charset="0"/>
              </a:rPr>
              <a:t>3. Feature Extraction    </a:t>
            </a:r>
          </a:p>
          <a:p>
            <a:pPr marL="0" indent="0" algn="just">
              <a:buNone/>
            </a:pPr>
            <a:r>
              <a:rPr lang="en-US" sz="2200" dirty="0">
                <a:latin typeface="Times New Roman" panose="02020603050405020304" pitchFamily="18" charset="0"/>
                <a:cs typeface="Times New Roman" panose="02020603050405020304" pitchFamily="18" charset="0"/>
              </a:rPr>
              <a:t>        Utilize CapsuleNet to extract high-dimensional feature vectors.     </a:t>
            </a:r>
          </a:p>
          <a:p>
            <a:pPr marL="0" indent="0" algn="just">
              <a:buNone/>
            </a:pPr>
            <a:r>
              <a:rPr lang="en-US" sz="2200" dirty="0">
                <a:latin typeface="Times New Roman" panose="02020603050405020304" pitchFamily="18" charset="0"/>
                <a:cs typeface="Times New Roman" panose="02020603050405020304" pitchFamily="18" charset="0"/>
              </a:rPr>
              <a:t>        Preserve spatial relationships between image features. </a:t>
            </a:r>
          </a:p>
          <a:p>
            <a:pPr algn="just">
              <a:buNone/>
            </a:pPr>
            <a:r>
              <a:rPr lang="en-IN" sz="2200" dirty="0"/>
              <a:t>4</a:t>
            </a:r>
            <a:r>
              <a:rPr lang="en-IN" sz="2200" dirty="0">
                <a:latin typeface="Times New Roman" panose="02020603050405020304" pitchFamily="18" charset="0"/>
                <a:cs typeface="Times New Roman" panose="02020603050405020304" pitchFamily="18" charset="0"/>
              </a:rPr>
              <a:t>. Model Training</a:t>
            </a:r>
          </a:p>
          <a:p>
            <a:pPr marL="0" indent="0" algn="just">
              <a:buNone/>
            </a:pPr>
            <a:r>
              <a:rPr lang="en-IN" sz="2200" dirty="0">
                <a:latin typeface="Times New Roman" panose="02020603050405020304" pitchFamily="18" charset="0"/>
                <a:cs typeface="Times New Roman" panose="02020603050405020304" pitchFamily="18" charset="0"/>
              </a:rPr>
              <a:t>        Use EfficientNet-B6 as the backbone for feature extraction.</a:t>
            </a:r>
          </a:p>
          <a:p>
            <a:pPr marL="0" indent="0" algn="just">
              <a:buNone/>
            </a:pPr>
            <a:r>
              <a:rPr lang="en-IN" sz="2200" dirty="0">
                <a:latin typeface="Times New Roman" panose="02020603050405020304" pitchFamily="18" charset="0"/>
                <a:cs typeface="Times New Roman" panose="02020603050405020304" pitchFamily="18" charset="0"/>
              </a:rPr>
              <a:t>        Integrate AGSK for dynamic hyperparameter optimization.</a:t>
            </a:r>
          </a:p>
          <a:p>
            <a:pPr marL="0" indent="0" algn="just">
              <a:buNone/>
            </a:pPr>
            <a:r>
              <a:rPr lang="en-IN" sz="2200" dirty="0">
                <a:latin typeface="Times New Roman" panose="02020603050405020304" pitchFamily="18" charset="0"/>
                <a:cs typeface="Times New Roman" panose="02020603050405020304" pitchFamily="18" charset="0"/>
              </a:rPr>
              <a:t>        Train with Binary Cross-Entropy loss and </a:t>
            </a:r>
            <a:r>
              <a:rPr lang="en-IN" sz="2200" dirty="0" err="1">
                <a:latin typeface="Times New Roman" panose="02020603050405020304" pitchFamily="18" charset="0"/>
                <a:cs typeface="Times New Roman" panose="02020603050405020304" pitchFamily="18" charset="0"/>
              </a:rPr>
              <a:t>AdamW</a:t>
            </a:r>
            <a:r>
              <a:rPr lang="en-IN" sz="2200" dirty="0">
                <a:latin typeface="Times New Roman" panose="02020603050405020304" pitchFamily="18" charset="0"/>
                <a:cs typeface="Times New Roman" panose="02020603050405020304" pitchFamily="18" charset="0"/>
              </a:rPr>
              <a:t> optimizer.</a:t>
            </a:r>
          </a:p>
        </p:txBody>
      </p:sp>
    </p:spTree>
    <p:extLst>
      <p:ext uri="{BB962C8B-B14F-4D97-AF65-F5344CB8AC3E}">
        <p14:creationId xmlns:p14="http://schemas.microsoft.com/office/powerpoint/2010/main" val="1347611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A3A972-DAE6-EE30-3CBA-F7905CEA7DEA}"/>
              </a:ext>
            </a:extLst>
          </p:cNvPr>
          <p:cNvSpPr txBox="1"/>
          <p:nvPr/>
        </p:nvSpPr>
        <p:spPr>
          <a:xfrm>
            <a:off x="517585" y="1155940"/>
            <a:ext cx="11102196" cy="1600438"/>
          </a:xfrm>
          <a:prstGeom prst="rect">
            <a:avLst/>
          </a:prstGeom>
          <a:noFill/>
        </p:spPr>
        <p:txBody>
          <a:bodyPr wrap="square" rtlCol="0">
            <a:spAutoFit/>
          </a:bodyPr>
          <a:lstStyle/>
          <a:p>
            <a:pPr algn="just">
              <a:buNone/>
            </a:pPr>
            <a:r>
              <a:rPr lang="en-US" sz="2000" dirty="0">
                <a:latin typeface="Times New Roman" panose="02020603050405020304" pitchFamily="18" charset="0"/>
                <a:cs typeface="Times New Roman" panose="02020603050405020304" pitchFamily="18" charset="0"/>
              </a:rPr>
              <a:t>5. Model Evaluation</a:t>
            </a:r>
          </a:p>
          <a:p>
            <a:pPr algn="just"/>
            <a:r>
              <a:rPr lang="en-US" sz="2000" dirty="0">
                <a:latin typeface="Times New Roman" panose="02020603050405020304" pitchFamily="18" charset="0"/>
                <a:cs typeface="Times New Roman" panose="02020603050405020304" pitchFamily="18" charset="0"/>
              </a:rPr>
              <a:t>      Plot learning curves for loss and accuracy.</a:t>
            </a:r>
          </a:p>
          <a:p>
            <a:pPr algn="just"/>
            <a:r>
              <a:rPr lang="en-US" sz="2000" dirty="0">
                <a:latin typeface="Times New Roman" panose="02020603050405020304" pitchFamily="18" charset="0"/>
                <a:cs typeface="Times New Roman" panose="02020603050405020304" pitchFamily="18" charset="0"/>
              </a:rPr>
              <a:t>      Generate a confusion matrix.</a:t>
            </a:r>
          </a:p>
          <a:p>
            <a:pPr algn="just"/>
            <a:r>
              <a:rPr lang="en-US" sz="2000" dirty="0">
                <a:latin typeface="Times New Roman" panose="02020603050405020304" pitchFamily="18" charset="0"/>
                <a:cs typeface="Times New Roman" panose="02020603050405020304" pitchFamily="18" charset="0"/>
              </a:rPr>
              <a:t>      Compute F1-score, Accuracy, Precision, and Recall for performance evaluation.</a:t>
            </a:r>
          </a:p>
          <a:p>
            <a:pPr algn="just"/>
            <a:endParaRPr lang="en-IN" dirty="0"/>
          </a:p>
        </p:txBody>
      </p:sp>
    </p:spTree>
    <p:extLst>
      <p:ext uri="{BB962C8B-B14F-4D97-AF65-F5344CB8AC3E}">
        <p14:creationId xmlns:p14="http://schemas.microsoft.com/office/powerpoint/2010/main" val="1879372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616F0BF-C5F2-5696-65D4-928E629BF4F0}"/>
              </a:ext>
            </a:extLst>
          </p:cNvPr>
          <p:cNvSpPr txBox="1"/>
          <p:nvPr/>
        </p:nvSpPr>
        <p:spPr>
          <a:xfrm>
            <a:off x="3372919" y="231906"/>
            <a:ext cx="4718649"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  Results Comparison</a:t>
            </a:r>
            <a:endParaRPr lang="en-US"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75CAEF8C-8156-911E-4947-E5C74ECCF510}"/>
              </a:ext>
            </a:extLst>
          </p:cNvPr>
          <p:cNvGraphicFramePr>
            <a:graphicFrameLocks noGrp="1"/>
          </p:cNvGraphicFramePr>
          <p:nvPr>
            <p:extLst>
              <p:ext uri="{D42A27DB-BD31-4B8C-83A1-F6EECF244321}">
                <p14:modId xmlns:p14="http://schemas.microsoft.com/office/powerpoint/2010/main" val="4170149197"/>
              </p:ext>
            </p:extLst>
          </p:nvPr>
        </p:nvGraphicFramePr>
        <p:xfrm>
          <a:off x="2032000" y="2051839"/>
          <a:ext cx="8128000" cy="3093432"/>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1034914329"/>
                    </a:ext>
                  </a:extLst>
                </a:gridCol>
                <a:gridCol w="1625600">
                  <a:extLst>
                    <a:ext uri="{9D8B030D-6E8A-4147-A177-3AD203B41FA5}">
                      <a16:colId xmlns:a16="http://schemas.microsoft.com/office/drawing/2014/main" val="1357671184"/>
                    </a:ext>
                  </a:extLst>
                </a:gridCol>
                <a:gridCol w="1625600">
                  <a:extLst>
                    <a:ext uri="{9D8B030D-6E8A-4147-A177-3AD203B41FA5}">
                      <a16:colId xmlns:a16="http://schemas.microsoft.com/office/drawing/2014/main" val="1159415607"/>
                    </a:ext>
                  </a:extLst>
                </a:gridCol>
                <a:gridCol w="1625600">
                  <a:extLst>
                    <a:ext uri="{9D8B030D-6E8A-4147-A177-3AD203B41FA5}">
                      <a16:colId xmlns:a16="http://schemas.microsoft.com/office/drawing/2014/main" val="295064251"/>
                    </a:ext>
                  </a:extLst>
                </a:gridCol>
                <a:gridCol w="1625600">
                  <a:extLst>
                    <a:ext uri="{9D8B030D-6E8A-4147-A177-3AD203B41FA5}">
                      <a16:colId xmlns:a16="http://schemas.microsoft.com/office/drawing/2014/main" val="1146822495"/>
                    </a:ext>
                  </a:extLst>
                </a:gridCol>
              </a:tblGrid>
              <a:tr h="586596">
                <a:tc>
                  <a:txBody>
                    <a:bodyPr/>
                    <a:lstStyle/>
                    <a:p>
                      <a:pPr algn="ctr"/>
                      <a:r>
                        <a:rPr lang="en-US" dirty="0">
                          <a:latin typeface="Times New Roman" panose="02020603050405020304" pitchFamily="18" charset="0"/>
                          <a:cs typeface="Times New Roman" panose="02020603050405020304" pitchFamily="18" charset="0"/>
                        </a:rPr>
                        <a:t>Model</a:t>
                      </a:r>
                    </a:p>
                  </a:txBody>
                  <a:tcPr/>
                </a:tc>
                <a:tc>
                  <a:txBody>
                    <a:bodyPr/>
                    <a:lstStyle/>
                    <a:p>
                      <a:pPr algn="ctr"/>
                      <a:r>
                        <a:rPr lang="en-US" dirty="0">
                          <a:latin typeface="Times New Roman" panose="02020603050405020304" pitchFamily="18" charset="0"/>
                          <a:cs typeface="Times New Roman" panose="02020603050405020304" pitchFamily="18" charset="0"/>
                        </a:rPr>
                        <a:t>Accuracy</a:t>
                      </a:r>
                    </a:p>
                  </a:txBody>
                  <a:tcPr/>
                </a:tc>
                <a:tc>
                  <a:txBody>
                    <a:bodyPr/>
                    <a:lstStyle/>
                    <a:p>
                      <a:pPr algn="ctr"/>
                      <a:r>
                        <a:rPr lang="en-US" dirty="0">
                          <a:latin typeface="Times New Roman" panose="02020603050405020304" pitchFamily="18" charset="0"/>
                          <a:cs typeface="Times New Roman" panose="02020603050405020304" pitchFamily="18" charset="0"/>
                        </a:rPr>
                        <a:t>Precision</a:t>
                      </a:r>
                    </a:p>
                  </a:txBody>
                  <a:tcPr/>
                </a:tc>
                <a:tc>
                  <a:txBody>
                    <a:bodyPr/>
                    <a:lstStyle/>
                    <a:p>
                      <a:pPr algn="ctr"/>
                      <a:r>
                        <a:rPr lang="en-US" dirty="0">
                          <a:latin typeface="Times New Roman" panose="02020603050405020304" pitchFamily="18" charset="0"/>
                          <a:cs typeface="Times New Roman" panose="02020603050405020304" pitchFamily="18" charset="0"/>
                        </a:rPr>
                        <a:t>Recall</a:t>
                      </a:r>
                    </a:p>
                  </a:txBody>
                  <a:tcPr/>
                </a:tc>
                <a:tc>
                  <a:txBody>
                    <a:bodyPr/>
                    <a:lstStyle/>
                    <a:p>
                      <a:pPr algn="ctr"/>
                      <a:r>
                        <a:rPr lang="en-US" dirty="0">
                          <a:latin typeface="Times New Roman" panose="02020603050405020304" pitchFamily="18" charset="0"/>
                          <a:cs typeface="Times New Roman" panose="02020603050405020304" pitchFamily="18" charset="0"/>
                        </a:rPr>
                        <a:t>F1 Score</a:t>
                      </a:r>
                    </a:p>
                  </a:txBody>
                  <a:tcPr/>
                </a:tc>
                <a:extLst>
                  <a:ext uri="{0D108BD9-81ED-4DB2-BD59-A6C34878D82A}">
                    <a16:rowId xmlns:a16="http://schemas.microsoft.com/office/drawing/2014/main" val="3929429718"/>
                  </a:ext>
                </a:extLst>
              </a:tr>
              <a:tr h="586596">
                <a:tc>
                  <a:txBody>
                    <a:bodyPr/>
                    <a:lstStyle/>
                    <a:p>
                      <a:pPr algn="ctr"/>
                      <a:r>
                        <a:rPr lang="en-US" dirty="0">
                          <a:latin typeface="Times New Roman" panose="02020603050405020304" pitchFamily="18" charset="0"/>
                          <a:cs typeface="Times New Roman" panose="02020603050405020304" pitchFamily="18" charset="0"/>
                        </a:rPr>
                        <a:t>DENSENET121+AGSK</a:t>
                      </a:r>
                    </a:p>
                  </a:txBody>
                  <a:tcPr/>
                </a:tc>
                <a:tc>
                  <a:txBody>
                    <a:bodyPr/>
                    <a:lstStyle/>
                    <a:p>
                      <a:pPr algn="ctr"/>
                      <a:r>
                        <a:rPr lang="en-US" dirty="0">
                          <a:latin typeface="Times New Roman" panose="02020603050405020304" pitchFamily="18" charset="0"/>
                          <a:cs typeface="Times New Roman" panose="02020603050405020304" pitchFamily="18" charset="0"/>
                        </a:rPr>
                        <a:t>93%</a:t>
                      </a:r>
                    </a:p>
                  </a:txBody>
                  <a:tcPr/>
                </a:tc>
                <a:tc>
                  <a:txBody>
                    <a:bodyPr/>
                    <a:lstStyle/>
                    <a:p>
                      <a:pPr algn="ctr"/>
                      <a:r>
                        <a:rPr lang="en-US" dirty="0">
                          <a:latin typeface="Times New Roman" panose="02020603050405020304" pitchFamily="18" charset="0"/>
                          <a:cs typeface="Times New Roman" panose="02020603050405020304" pitchFamily="18" charset="0"/>
                        </a:rPr>
                        <a:t>0.85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0.92</a:t>
                      </a:r>
                    </a:p>
                  </a:txBody>
                  <a:tcPr/>
                </a:tc>
                <a:tc>
                  <a:txBody>
                    <a:bodyPr/>
                    <a:lstStyle/>
                    <a:p>
                      <a:pPr algn="ctr"/>
                      <a:r>
                        <a:rPr lang="en-US" dirty="0">
                          <a:latin typeface="Times New Roman" panose="02020603050405020304" pitchFamily="18" charset="0"/>
                          <a:cs typeface="Times New Roman" panose="02020603050405020304" pitchFamily="18" charset="0"/>
                        </a:rPr>
                        <a:t>0.88</a:t>
                      </a:r>
                    </a:p>
                  </a:txBody>
                  <a:tcPr/>
                </a:tc>
                <a:extLst>
                  <a:ext uri="{0D108BD9-81ED-4DB2-BD59-A6C34878D82A}">
                    <a16:rowId xmlns:a16="http://schemas.microsoft.com/office/drawing/2014/main" val="1478234857"/>
                  </a:ext>
                </a:extLst>
              </a:tr>
              <a:tr h="586596">
                <a:tc>
                  <a:txBody>
                    <a:bodyPr/>
                    <a:lstStyle/>
                    <a:p>
                      <a:pPr algn="ctr"/>
                      <a:r>
                        <a:rPr lang="en-US" dirty="0">
                          <a:latin typeface="Times New Roman" panose="02020603050405020304" pitchFamily="18" charset="0"/>
                          <a:cs typeface="Times New Roman" panose="02020603050405020304" pitchFamily="18" charset="0"/>
                        </a:rPr>
                        <a:t>EFFICIENT-B6+AGSK</a:t>
                      </a:r>
                    </a:p>
                  </a:txBody>
                  <a:tcPr/>
                </a:tc>
                <a:tc>
                  <a:txBody>
                    <a:bodyPr/>
                    <a:lstStyle/>
                    <a:p>
                      <a:pPr algn="ctr"/>
                      <a:r>
                        <a:rPr lang="en-US" dirty="0">
                          <a:latin typeface="Times New Roman" panose="02020603050405020304" pitchFamily="18" charset="0"/>
                          <a:cs typeface="Times New Roman" panose="02020603050405020304" pitchFamily="18" charset="0"/>
                        </a:rPr>
                        <a:t>96%</a:t>
                      </a:r>
                    </a:p>
                  </a:txBody>
                  <a:tcPr/>
                </a:tc>
                <a:tc>
                  <a:txBody>
                    <a:bodyPr/>
                    <a:lstStyle/>
                    <a:p>
                      <a:pPr algn="ctr"/>
                      <a:r>
                        <a:rPr lang="en-US" dirty="0">
                          <a:latin typeface="Times New Roman" panose="02020603050405020304" pitchFamily="18" charset="0"/>
                          <a:cs typeface="Times New Roman" panose="02020603050405020304" pitchFamily="18" charset="0"/>
                        </a:rPr>
                        <a:t>96</a:t>
                      </a:r>
                    </a:p>
                  </a:txBody>
                  <a:tcPr/>
                </a:tc>
                <a:tc>
                  <a:txBody>
                    <a:bodyPr/>
                    <a:lstStyle/>
                    <a:p>
                      <a:pPr algn="ctr"/>
                      <a:r>
                        <a:rPr lang="en-US" dirty="0">
                          <a:latin typeface="Times New Roman" panose="02020603050405020304" pitchFamily="18" charset="0"/>
                          <a:cs typeface="Times New Roman" panose="02020603050405020304" pitchFamily="18" charset="0"/>
                        </a:rPr>
                        <a:t>95</a:t>
                      </a:r>
                    </a:p>
                  </a:txBody>
                  <a:tcPr/>
                </a:tc>
                <a:tc>
                  <a:txBody>
                    <a:bodyPr/>
                    <a:lstStyle/>
                    <a:p>
                      <a:pPr algn="ctr"/>
                      <a:r>
                        <a:rPr lang="en-US" dirty="0">
                          <a:latin typeface="Times New Roman" panose="02020603050405020304" pitchFamily="18" charset="0"/>
                          <a:cs typeface="Times New Roman" panose="02020603050405020304" pitchFamily="18" charset="0"/>
                        </a:rPr>
                        <a:t>96</a:t>
                      </a:r>
                    </a:p>
                  </a:txBody>
                  <a:tcPr/>
                </a:tc>
                <a:extLst>
                  <a:ext uri="{0D108BD9-81ED-4DB2-BD59-A6C34878D82A}">
                    <a16:rowId xmlns:a16="http://schemas.microsoft.com/office/drawing/2014/main" val="2236407185"/>
                  </a:ext>
                </a:extLst>
              </a:tr>
              <a:tr h="586596">
                <a:tc>
                  <a:txBody>
                    <a:bodyPr/>
                    <a:lstStyle/>
                    <a:p>
                      <a:pPr algn="ctr"/>
                      <a:r>
                        <a:rPr lang="en-US" dirty="0">
                          <a:latin typeface="Times New Roman" panose="02020603050405020304" pitchFamily="18" charset="0"/>
                          <a:cs typeface="Times New Roman" panose="02020603050405020304" pitchFamily="18" charset="0"/>
                        </a:rPr>
                        <a:t>CNN</a:t>
                      </a:r>
                    </a:p>
                  </a:txBody>
                  <a:tcPr/>
                </a:tc>
                <a:tc>
                  <a:txBody>
                    <a:bodyPr/>
                    <a:lstStyle/>
                    <a:p>
                      <a:pPr algn="ctr"/>
                      <a:r>
                        <a:rPr lang="en-US" dirty="0">
                          <a:latin typeface="Times New Roman" panose="02020603050405020304" pitchFamily="18" charset="0"/>
                          <a:cs typeface="Times New Roman" panose="02020603050405020304" pitchFamily="18" charset="0"/>
                        </a:rPr>
                        <a:t>75%</a:t>
                      </a:r>
                    </a:p>
                  </a:txBody>
                  <a:tcPr/>
                </a:tc>
                <a:tc>
                  <a:txBody>
                    <a:bodyPr/>
                    <a:lstStyle/>
                    <a:p>
                      <a:pPr algn="ctr"/>
                      <a:r>
                        <a:rPr lang="en-US" dirty="0">
                          <a:latin typeface="Times New Roman" panose="02020603050405020304" pitchFamily="18" charset="0"/>
                          <a:cs typeface="Times New Roman" panose="02020603050405020304" pitchFamily="18" charset="0"/>
                        </a:rPr>
                        <a:t>75</a:t>
                      </a:r>
                    </a:p>
                  </a:txBody>
                  <a:tcPr/>
                </a:tc>
                <a:tc>
                  <a:txBody>
                    <a:bodyPr/>
                    <a:lstStyle/>
                    <a:p>
                      <a:pPr algn="ctr"/>
                      <a:r>
                        <a:rPr lang="en-US" dirty="0">
                          <a:latin typeface="Times New Roman" panose="02020603050405020304" pitchFamily="18" charset="0"/>
                          <a:cs typeface="Times New Roman" panose="02020603050405020304" pitchFamily="18" charset="0"/>
                        </a:rPr>
                        <a:t>70</a:t>
                      </a:r>
                    </a:p>
                  </a:txBody>
                  <a:tcPr/>
                </a:tc>
                <a:tc>
                  <a:txBody>
                    <a:bodyPr/>
                    <a:lstStyle/>
                    <a:p>
                      <a:pPr algn="ctr"/>
                      <a:r>
                        <a:rPr lang="en-US" dirty="0">
                          <a:latin typeface="Times New Roman" panose="02020603050405020304" pitchFamily="18" charset="0"/>
                          <a:cs typeface="Times New Roman" panose="02020603050405020304" pitchFamily="18" charset="0"/>
                        </a:rPr>
                        <a:t>72</a:t>
                      </a:r>
                    </a:p>
                  </a:txBody>
                  <a:tcPr/>
                </a:tc>
                <a:extLst>
                  <a:ext uri="{0D108BD9-81ED-4DB2-BD59-A6C34878D82A}">
                    <a16:rowId xmlns:a16="http://schemas.microsoft.com/office/drawing/2014/main" val="786308517"/>
                  </a:ext>
                </a:extLst>
              </a:tr>
              <a:tr h="5865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0" kern="1200" dirty="0">
                          <a:solidFill>
                            <a:schemeClr val="dk1"/>
                          </a:solidFill>
                          <a:effectLst/>
                          <a:latin typeface="Times New Roman" panose="02020603050405020304" pitchFamily="18" charset="0"/>
                          <a:ea typeface="+mn-ea"/>
                          <a:cs typeface="Times New Roman" panose="02020603050405020304" pitchFamily="18" charset="0"/>
                        </a:rPr>
                        <a:t>ResNet18 </a:t>
                      </a:r>
                    </a:p>
                    <a:p>
                      <a:pPr algn="ct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85%</a:t>
                      </a:r>
                    </a:p>
                  </a:txBody>
                  <a:tcPr/>
                </a:tc>
                <a:tc>
                  <a:txBody>
                    <a:bodyPr/>
                    <a:lstStyle/>
                    <a:p>
                      <a:pPr algn="ctr"/>
                      <a:r>
                        <a:rPr lang="en-US" dirty="0">
                          <a:latin typeface="Times New Roman" panose="02020603050405020304" pitchFamily="18" charset="0"/>
                          <a:cs typeface="Times New Roman" panose="02020603050405020304" pitchFamily="18" charset="0"/>
                        </a:rPr>
                        <a:t>85</a:t>
                      </a:r>
                    </a:p>
                  </a:txBody>
                  <a:tcPr/>
                </a:tc>
                <a:tc>
                  <a:txBody>
                    <a:bodyPr/>
                    <a:lstStyle/>
                    <a:p>
                      <a:pPr algn="ctr"/>
                      <a:r>
                        <a:rPr lang="en-US" dirty="0">
                          <a:latin typeface="Times New Roman" panose="02020603050405020304" pitchFamily="18" charset="0"/>
                          <a:cs typeface="Times New Roman" panose="02020603050405020304" pitchFamily="18" charset="0"/>
                        </a:rPr>
                        <a:t>80</a:t>
                      </a:r>
                    </a:p>
                  </a:txBody>
                  <a:tcPr/>
                </a:tc>
                <a:tc>
                  <a:txBody>
                    <a:bodyPr/>
                    <a:lstStyle/>
                    <a:p>
                      <a:pPr algn="ctr"/>
                      <a:r>
                        <a:rPr lang="en-US" dirty="0">
                          <a:latin typeface="Times New Roman" panose="02020603050405020304" pitchFamily="18" charset="0"/>
                          <a:cs typeface="Times New Roman" panose="02020603050405020304" pitchFamily="18" charset="0"/>
                        </a:rPr>
                        <a:t>82</a:t>
                      </a:r>
                    </a:p>
                  </a:txBody>
                  <a:tcPr/>
                </a:tc>
                <a:extLst>
                  <a:ext uri="{0D108BD9-81ED-4DB2-BD59-A6C34878D82A}">
                    <a16:rowId xmlns:a16="http://schemas.microsoft.com/office/drawing/2014/main" val="4186349389"/>
                  </a:ext>
                </a:extLst>
              </a:tr>
            </a:tbl>
          </a:graphicData>
        </a:graphic>
      </p:graphicFrame>
    </p:spTree>
    <p:extLst>
      <p:ext uri="{BB962C8B-B14F-4D97-AF65-F5344CB8AC3E}">
        <p14:creationId xmlns:p14="http://schemas.microsoft.com/office/powerpoint/2010/main" val="3166935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51D421-370D-269A-24C8-C82349904255}"/>
              </a:ext>
            </a:extLst>
          </p:cNvPr>
          <p:cNvPicPr>
            <a:picLocks noChangeAspect="1"/>
          </p:cNvPicPr>
          <p:nvPr/>
        </p:nvPicPr>
        <p:blipFill>
          <a:blip r:embed="rId2"/>
          <a:stretch>
            <a:fillRect/>
          </a:stretch>
        </p:blipFill>
        <p:spPr>
          <a:xfrm>
            <a:off x="965554" y="0"/>
            <a:ext cx="10260891" cy="6858000"/>
          </a:xfrm>
          <a:prstGeom prst="rect">
            <a:avLst/>
          </a:prstGeom>
        </p:spPr>
      </p:pic>
    </p:spTree>
    <p:extLst>
      <p:ext uri="{BB962C8B-B14F-4D97-AF65-F5344CB8AC3E}">
        <p14:creationId xmlns:p14="http://schemas.microsoft.com/office/powerpoint/2010/main" val="1872222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B1BE-BAC1-8817-998E-C01315E5EC87}"/>
              </a:ext>
            </a:extLst>
          </p:cNvPr>
          <p:cNvSpPr>
            <a:spLocks noGrp="1"/>
          </p:cNvSpPr>
          <p:nvPr>
            <p:ph type="title"/>
          </p:nvPr>
        </p:nvSpPr>
        <p:spPr>
          <a:xfrm>
            <a:off x="3260785" y="301933"/>
            <a:ext cx="5397262" cy="844490"/>
          </a:xfrm>
        </p:spPr>
        <p:txBody>
          <a:bodyPr>
            <a:normAutofit fontScale="90000"/>
          </a:bodyPr>
          <a:lstStyle/>
          <a:p>
            <a:r>
              <a:rPr lang="en-US" sz="4000" dirty="0">
                <a:latin typeface="Times New Roman" panose="02020603050405020304" pitchFamily="18" charset="0"/>
                <a:cs typeface="Times New Roman" panose="02020603050405020304" pitchFamily="18" charset="0"/>
              </a:rPr>
              <a:t>Conclusion</a:t>
            </a:r>
            <a:r>
              <a:rPr lang="en-US" dirty="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&amp; Future Scope</a:t>
            </a:r>
          </a:p>
        </p:txBody>
      </p:sp>
      <p:sp>
        <p:nvSpPr>
          <p:cNvPr id="3" name="Text Placeholder 2">
            <a:extLst>
              <a:ext uri="{FF2B5EF4-FFF2-40B4-BE49-F238E27FC236}">
                <a16:creationId xmlns:a16="http://schemas.microsoft.com/office/drawing/2014/main" id="{645793B3-81ED-FB22-C60A-9A1095629328}"/>
              </a:ext>
            </a:extLst>
          </p:cNvPr>
          <p:cNvSpPr>
            <a:spLocks noGrp="1"/>
          </p:cNvSpPr>
          <p:nvPr>
            <p:ph type="body" idx="1"/>
          </p:nvPr>
        </p:nvSpPr>
        <p:spPr>
          <a:xfrm>
            <a:off x="831850" y="1552755"/>
            <a:ext cx="10515600" cy="4536895"/>
          </a:xfrm>
        </p:spPr>
        <p:txBody>
          <a:bodyPr>
            <a:normAutofit/>
          </a:bodyPr>
          <a:lstStyle/>
          <a:p>
            <a:pPr algn="just">
              <a:lnSpc>
                <a:spcPct val="150000"/>
              </a:lnSpc>
            </a:pPr>
            <a:r>
              <a:rPr lang="en-US" sz="2200" dirty="0">
                <a:solidFill>
                  <a:schemeClr val="tx1"/>
                </a:solidFill>
                <a:latin typeface="Times New Roman" panose="02020603050405020304" pitchFamily="18" charset="0"/>
                <a:cs typeface="Times New Roman" panose="02020603050405020304" pitchFamily="18" charset="0"/>
              </a:rPr>
              <a:t>The proposed deepfake detection model combines AGSK with EfficientNet-B6 for improved classification, leveraging CapsuleNet for feature extraction and AGSK for hyperparameter tuning. Achieving 96% accuracy, it proves effective in distinguishing real and fake images, validated through F1-score, Precision, Recall, and Confusion Matrix. Future work includes real-time detection, lightweight deployment,cross-dataset generalization, Explainable AI (XAI) for interpretability, and  adversarial attack resistance to enhance robustness.</a:t>
            </a:r>
          </a:p>
        </p:txBody>
      </p:sp>
    </p:spTree>
    <p:extLst>
      <p:ext uri="{BB962C8B-B14F-4D97-AF65-F5344CB8AC3E}">
        <p14:creationId xmlns:p14="http://schemas.microsoft.com/office/powerpoint/2010/main" val="3419306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C1741-B775-1074-ECBD-B6AB6C748303}"/>
              </a:ext>
            </a:extLst>
          </p:cNvPr>
          <p:cNvSpPr>
            <a:spLocks noGrp="1"/>
          </p:cNvSpPr>
          <p:nvPr>
            <p:ph type="title"/>
          </p:nvPr>
        </p:nvSpPr>
        <p:spPr/>
        <p:txBody>
          <a:bodyPr>
            <a:normAutofit/>
          </a:bodyPr>
          <a:lstStyle/>
          <a:p>
            <a:pPr algn="ctr"/>
            <a:r>
              <a:rPr lang="en-IN" sz="400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E417E053-1F32-C252-BA92-14E90072B541}"/>
              </a:ext>
            </a:extLst>
          </p:cNvPr>
          <p:cNvSpPr>
            <a:spLocks noGrp="1"/>
          </p:cNvSpPr>
          <p:nvPr>
            <p:ph idx="1"/>
          </p:nvPr>
        </p:nvSpPr>
        <p:spPr>
          <a:xfrm>
            <a:off x="838200" y="1463319"/>
            <a:ext cx="10515600" cy="4540666"/>
          </a:xfrm>
        </p:spPr>
        <p:txBody>
          <a:bodyPr>
            <a:normAutofit fontScale="77500" lnSpcReduction="20000"/>
          </a:bodyPr>
          <a:lstStyle/>
          <a:p>
            <a:pPr marL="12065" marR="139700" indent="0">
              <a:lnSpc>
                <a:spcPct val="107100"/>
              </a:lnSpc>
              <a:buNone/>
              <a:tabLst>
                <a:tab pos="358140" algn="l"/>
                <a:tab pos="358775" algn="l"/>
              </a:tabLst>
            </a:pPr>
            <a:r>
              <a:rPr lang="en-US" sz="2000" spc="10" dirty="0">
                <a:latin typeface="Times New Roman" panose="02020603050405020304" pitchFamily="18" charset="0"/>
                <a:cs typeface="Times New Roman" panose="02020603050405020304" pitchFamily="18" charset="0"/>
              </a:rPr>
              <a:t>[1] https://ieeexplore.ieee.org/document/9143097</a:t>
            </a:r>
          </a:p>
          <a:p>
            <a:pPr marL="12065" marR="139700" indent="0">
              <a:lnSpc>
                <a:spcPct val="107100"/>
              </a:lnSpc>
              <a:buNone/>
              <a:tabLst>
                <a:tab pos="358140" algn="l"/>
                <a:tab pos="358775" algn="l"/>
              </a:tabLst>
            </a:pPr>
            <a:r>
              <a:rPr lang="en-US" sz="2000" spc="10" dirty="0">
                <a:latin typeface="Times New Roman" panose="02020603050405020304" pitchFamily="18" charset="0"/>
                <a:cs typeface="Times New Roman" panose="02020603050405020304" pitchFamily="18" charset="0"/>
              </a:rPr>
              <a:t>[2] https://ieeexplore.ieee.org/document/9105097</a:t>
            </a:r>
          </a:p>
          <a:p>
            <a:pPr marL="12065" marR="139700" indent="0">
              <a:lnSpc>
                <a:spcPct val="107100"/>
              </a:lnSpc>
              <a:buNone/>
              <a:tabLst>
                <a:tab pos="358140" algn="l"/>
                <a:tab pos="358775" algn="l"/>
              </a:tabLst>
            </a:pPr>
            <a:r>
              <a:rPr lang="en-US" sz="2000" spc="5" dirty="0">
                <a:latin typeface="Times New Roman" panose="02020603050405020304" pitchFamily="18" charset="0"/>
                <a:cs typeface="Times New Roman" panose="02020603050405020304" pitchFamily="18" charset="0"/>
              </a:rPr>
              <a:t>[3] https://ieeexplore.ieee.org/document/9115874</a:t>
            </a:r>
          </a:p>
          <a:p>
            <a:pPr marL="12065" marR="139700" indent="0">
              <a:lnSpc>
                <a:spcPct val="107100"/>
              </a:lnSpc>
              <a:buNone/>
              <a:tabLst>
                <a:tab pos="358140" algn="l"/>
                <a:tab pos="358775" algn="l"/>
              </a:tabLst>
            </a:pPr>
            <a:r>
              <a:rPr lang="en-US" sz="2000" spc="10" dirty="0">
                <a:latin typeface="Times New Roman" panose="02020603050405020304" pitchFamily="18" charset="0"/>
                <a:cs typeface="Times New Roman" panose="02020603050405020304" pitchFamily="18" charset="0"/>
              </a:rPr>
              <a:t>[4] https://www.researchgate.net/publication/351263839_Gaining-Sharing_Knowledge_Based_Algorithm_With_Adaptive_Parameters_for_Engineering_Optimization</a:t>
            </a:r>
          </a:p>
          <a:p>
            <a:pPr marL="12065" marR="139700" indent="0">
              <a:lnSpc>
                <a:spcPct val="107100"/>
              </a:lnSpc>
              <a:buNone/>
              <a:tabLst>
                <a:tab pos="358140" algn="l"/>
                <a:tab pos="358775" algn="l"/>
              </a:tabLst>
            </a:pPr>
            <a:r>
              <a:rPr lang="en-US" sz="2000" spc="10" dirty="0">
                <a:latin typeface="Times New Roman" panose="02020603050405020304" pitchFamily="18" charset="0"/>
                <a:cs typeface="Times New Roman" panose="02020603050405020304" pitchFamily="18" charset="0"/>
              </a:rPr>
              <a:t>[5] https://www.researchgate.net/publication/348033118_Deepfake_Detection_through_Deep_Learning</a:t>
            </a:r>
          </a:p>
          <a:p>
            <a:pPr marL="12065" marR="139700" indent="0">
              <a:lnSpc>
                <a:spcPct val="107100"/>
              </a:lnSpc>
              <a:buNone/>
              <a:tabLst>
                <a:tab pos="358140" algn="l"/>
                <a:tab pos="358775" algn="l"/>
              </a:tabLst>
            </a:pPr>
            <a:r>
              <a:rPr lang="en-US" sz="2000" spc="10" dirty="0">
                <a:latin typeface="Times New Roman" panose="02020603050405020304" pitchFamily="18" charset="0"/>
                <a:cs typeface="Times New Roman" panose="02020603050405020304" pitchFamily="18" charset="0"/>
              </a:rPr>
              <a:t>[6]https://www.researchgate.net/publication/365254218_Hyperspectral_Image_Classification_Using_3D_Capsule-Net_Based_Architecture</a:t>
            </a:r>
          </a:p>
          <a:p>
            <a:pPr marL="12065" marR="139700" indent="0">
              <a:lnSpc>
                <a:spcPct val="107100"/>
              </a:lnSpc>
              <a:buNone/>
              <a:tabLst>
                <a:tab pos="358140" algn="l"/>
                <a:tab pos="358775" algn="l"/>
              </a:tabLst>
            </a:pPr>
            <a:r>
              <a:rPr lang="en-US" sz="2000" spc="10" dirty="0">
                <a:latin typeface="Times New Roman" panose="02020603050405020304" pitchFamily="18" charset="0"/>
                <a:cs typeface="Times New Roman" panose="02020603050405020304" pitchFamily="18" charset="0"/>
              </a:rPr>
              <a:t>[7] https://sci-hub.se/downloads/2021-05-14//27/serengil2020.pdf</a:t>
            </a:r>
          </a:p>
          <a:p>
            <a:pPr marL="12065" marR="139700" indent="0">
              <a:lnSpc>
                <a:spcPct val="107100"/>
              </a:lnSpc>
              <a:buNone/>
              <a:tabLst>
                <a:tab pos="358140" algn="l"/>
                <a:tab pos="358775" algn="l"/>
              </a:tabLst>
            </a:pPr>
            <a:r>
              <a:rPr lang="en-US" sz="2000" spc="10" dirty="0">
                <a:latin typeface="Times New Roman" panose="02020603050405020304" pitchFamily="18" charset="0"/>
                <a:cs typeface="Times New Roman" panose="02020603050405020304" pitchFamily="18" charset="0"/>
              </a:rPr>
              <a:t>[8]https://www.researchgate.net/publication/352765531_Detecting_fake_images_by_identifying_potential_texture_difference</a:t>
            </a:r>
          </a:p>
          <a:p>
            <a:pPr marL="12065" marR="139700" indent="0">
              <a:lnSpc>
                <a:spcPct val="107100"/>
              </a:lnSpc>
              <a:buNone/>
              <a:tabLst>
                <a:tab pos="358140" algn="l"/>
                <a:tab pos="358775" algn="l"/>
              </a:tabLst>
            </a:pPr>
            <a:r>
              <a:rPr lang="en-US" sz="2000" spc="10" dirty="0">
                <a:latin typeface="Times New Roman" panose="02020603050405020304" pitchFamily="18" charset="0"/>
                <a:cs typeface="Times New Roman" panose="02020603050405020304" pitchFamily="18" charset="0"/>
              </a:rPr>
              <a:t>[9]https://www.researchgate.net/publication/341329841_A_New_Deep_Neural_Architecture_Search_Pipeline_for_Face_Recognition</a:t>
            </a:r>
          </a:p>
          <a:p>
            <a:pPr marL="12065" marR="139700" indent="0">
              <a:lnSpc>
                <a:spcPct val="107100"/>
              </a:lnSpc>
              <a:buNone/>
              <a:tabLst>
                <a:tab pos="358140" algn="l"/>
                <a:tab pos="358775" algn="l"/>
              </a:tabLst>
            </a:pPr>
            <a:r>
              <a:rPr lang="en-US" sz="2000" spc="10" dirty="0">
                <a:latin typeface="Times New Roman" panose="02020603050405020304" pitchFamily="18" charset="0"/>
                <a:cs typeface="Times New Roman" panose="02020603050405020304" pitchFamily="18" charset="0"/>
              </a:rPr>
              <a:t>[10] https://www.researchgate.net/publication/349851883_Making_Sense_of_Blockchain_for_AI_Deepfakes_Technology</a:t>
            </a:r>
          </a:p>
          <a:p>
            <a:pPr marL="358140" marR="139700" indent="-346075">
              <a:lnSpc>
                <a:spcPct val="107100"/>
              </a:lnSpc>
              <a:buChar char="●"/>
              <a:tabLst>
                <a:tab pos="358140" algn="l"/>
                <a:tab pos="358775" algn="l"/>
              </a:tabLst>
            </a:pPr>
            <a:endParaRPr lang="en-US" sz="2000" spc="10" dirty="0">
              <a:latin typeface="Times New Roman" panose="02020603050405020304" pitchFamily="18" charset="0"/>
              <a:cs typeface="Times New Roman" panose="02020603050405020304" pitchFamily="18" charset="0"/>
            </a:endParaRPr>
          </a:p>
          <a:p>
            <a:pPr marL="358140" marR="139700" indent="-346075">
              <a:lnSpc>
                <a:spcPct val="107100"/>
              </a:lnSpc>
              <a:buChar char="●"/>
              <a:tabLst>
                <a:tab pos="358140" algn="l"/>
                <a:tab pos="358775" algn="l"/>
              </a:tabLst>
            </a:pPr>
            <a:endParaRPr lang="en-US" sz="2000" spc="1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9694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E829D-1268-D5CF-B61B-A4C80F7F2357}"/>
              </a:ext>
            </a:extLst>
          </p:cNvPr>
          <p:cNvSpPr>
            <a:spLocks noGrp="1"/>
          </p:cNvSpPr>
          <p:nvPr>
            <p:ph type="title"/>
          </p:nvPr>
        </p:nvSpPr>
        <p:spPr>
          <a:xfrm>
            <a:off x="2119924" y="1342049"/>
            <a:ext cx="8102600" cy="3386260"/>
          </a:xfrm>
        </p:spPr>
        <p:txBody>
          <a:bodyPr>
            <a:normAutofit/>
          </a:bodyPr>
          <a:lstStyle/>
          <a:p>
            <a:r>
              <a:rPr lang="en-US" sz="13800" dirty="0">
                <a:latin typeface="Times New Roman" panose="02020603050405020304" pitchFamily="18" charset="0"/>
                <a:cs typeface="Times New Roman" panose="02020603050405020304" pitchFamily="18" charset="0"/>
              </a:rPr>
              <a:t>  </a:t>
            </a:r>
            <a:r>
              <a:rPr lang="en-US" sz="9600" dirty="0">
                <a:latin typeface="Times New Roman" panose="02020603050405020304" pitchFamily="18" charset="0"/>
                <a:cs typeface="Times New Roman" panose="02020603050405020304" pitchFamily="18" charset="0"/>
              </a:rPr>
              <a:t>Thank You</a:t>
            </a:r>
            <a:endParaRPr lang="en-US" sz="13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0520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6574</TotalTime>
  <Words>1483</Words>
  <Application>Microsoft Office PowerPoint</Application>
  <PresentationFormat>Widescreen</PresentationFormat>
  <Paragraphs>164</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Times New Roman</vt:lpstr>
      <vt:lpstr>Office Theme</vt:lpstr>
      <vt:lpstr>EfficientNetB6-Based Fake and Propaganda Image Detection using AGSK Optimization</vt:lpstr>
      <vt:lpstr>Contents</vt:lpstr>
      <vt:lpstr>                            Abstract     </vt:lpstr>
      <vt:lpstr>Problem Statement</vt:lpstr>
      <vt:lpstr>Literature Survey</vt:lpstr>
      <vt:lpstr>PowerPoint Presentation</vt:lpstr>
      <vt:lpstr>Existing Work</vt:lpstr>
      <vt:lpstr>Proposed Work</vt:lpstr>
      <vt:lpstr>PowerPoint Presentation</vt:lpstr>
      <vt:lpstr>   Results for AGSK+DENSENET121</vt:lpstr>
      <vt:lpstr>Architecture For Proposed work</vt:lpstr>
      <vt:lpstr>   Results for AGSK+EFFICIENT-B6</vt:lpstr>
      <vt:lpstr>Dataset</vt:lpstr>
      <vt:lpstr>PowerPoint Presentation</vt:lpstr>
      <vt:lpstr>PowerPoint Presentation</vt:lpstr>
      <vt:lpstr>PowerPoint Presentation</vt:lpstr>
      <vt:lpstr>PowerPoint Presentation</vt:lpstr>
      <vt:lpstr>Conclusion &amp; Future Scope</vt:lpstr>
      <vt:lpstr>References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Title</dc:title>
  <dc:creator>CHEREDDY Mohana Lakshmi Priya (Mohana)</dc:creator>
  <cp:lastModifiedBy>Venkata bhanu Teja</cp:lastModifiedBy>
  <cp:revision>108</cp:revision>
  <dcterms:created xsi:type="dcterms:W3CDTF">2024-03-14T14:52:44Z</dcterms:created>
  <dcterms:modified xsi:type="dcterms:W3CDTF">2026-02-07T11:55:45Z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2024-04-07T04:45:46Z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10364519-490a-469b-ab2a-a001b91ff430</vt:lpwstr>
  </property>
  <property fmtid="{D5CDD505-2E9C-101B-9397-08002B2CF9AE}" pid="7" name="MSIP_Label_defa4170-0d19-0005-0004-bc88714345d2_ActionId">
    <vt:lpwstr>d49fcc75-7235-422a-a89f-c2463af9e8e1</vt:lpwstr>
  </property>
  <property fmtid="{D5CDD505-2E9C-101B-9397-08002B2CF9AE}" pid="8" name="MSIP_Label_defa4170-0d19-0005-0004-bc88714345d2_ContentBits">
    <vt:lpwstr>0</vt:lpwstr>
  </property>
</Properties>
</file>